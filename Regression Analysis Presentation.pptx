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13"/>
  </p:notesMasterIdLst>
  <p:sldIdLst>
    <p:sldId id="256" r:id="rId2"/>
    <p:sldId id="257" r:id="rId3"/>
    <p:sldId id="261" r:id="rId4"/>
    <p:sldId id="260" r:id="rId5"/>
    <p:sldId id="262" r:id="rId6"/>
    <p:sldId id="267" r:id="rId7"/>
    <p:sldId id="266" r:id="rId8"/>
    <p:sldId id="264" r:id="rId9"/>
    <p:sldId id="265" r:id="rId10"/>
    <p:sldId id="258" r:id="rId11"/>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4F2"/>
    <a:srgbClr val="E4AC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4"/>
    <p:restoredTop sz="81397"/>
  </p:normalViewPr>
  <p:slideViewPr>
    <p:cSldViewPr snapToGrid="0">
      <p:cViewPr varScale="1">
        <p:scale>
          <a:sx n="65" d="100"/>
          <a:sy n="65" d="100"/>
        </p:scale>
        <p:origin x="240" y="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Paulami/Desktop/HW2_graph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Paulami/Desktop/HW2_graph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Paulami\Desktop\HW2_graphs.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dirty="0"/>
              <a:t>SPY Top Holdings</a:t>
            </a:r>
          </a:p>
        </c:rich>
      </c:tx>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pieChart>
        <c:varyColors val="1"/>
        <c:ser>
          <c:idx val="0"/>
          <c:order val="0"/>
          <c:spPr>
            <a:ln>
              <a:noFill/>
            </a:ln>
          </c:spPr>
          <c:dPt>
            <c:idx val="0"/>
            <c:bubble3D val="0"/>
            <c:spPr>
              <a:solidFill>
                <a:schemeClr val="accent1">
                  <a:shade val="42000"/>
                </a:schemeClr>
              </a:solidFill>
              <a:ln w="19050">
                <a:noFill/>
              </a:ln>
              <a:effectLst/>
            </c:spPr>
            <c:extLst>
              <c:ext xmlns:c16="http://schemas.microsoft.com/office/drawing/2014/chart" uri="{C3380CC4-5D6E-409C-BE32-E72D297353CC}">
                <c16:uniqueId val="{00000001-EBF4-AB4B-8AD0-0CB0A253FC1A}"/>
              </c:ext>
            </c:extLst>
          </c:dPt>
          <c:dPt>
            <c:idx val="1"/>
            <c:bubble3D val="0"/>
            <c:spPr>
              <a:solidFill>
                <a:schemeClr val="accent1">
                  <a:shade val="55000"/>
                </a:schemeClr>
              </a:solidFill>
              <a:ln w="19050">
                <a:noFill/>
              </a:ln>
              <a:effectLst/>
            </c:spPr>
            <c:extLst>
              <c:ext xmlns:c16="http://schemas.microsoft.com/office/drawing/2014/chart" uri="{C3380CC4-5D6E-409C-BE32-E72D297353CC}">
                <c16:uniqueId val="{00000003-EBF4-AB4B-8AD0-0CB0A253FC1A}"/>
              </c:ext>
            </c:extLst>
          </c:dPt>
          <c:dPt>
            <c:idx val="2"/>
            <c:bubble3D val="0"/>
            <c:spPr>
              <a:solidFill>
                <a:schemeClr val="accent1">
                  <a:shade val="68000"/>
                </a:schemeClr>
              </a:solidFill>
              <a:ln w="19050">
                <a:noFill/>
              </a:ln>
              <a:effectLst/>
            </c:spPr>
            <c:extLst>
              <c:ext xmlns:c16="http://schemas.microsoft.com/office/drawing/2014/chart" uri="{C3380CC4-5D6E-409C-BE32-E72D297353CC}">
                <c16:uniqueId val="{00000005-EBF4-AB4B-8AD0-0CB0A253FC1A}"/>
              </c:ext>
            </c:extLst>
          </c:dPt>
          <c:dPt>
            <c:idx val="3"/>
            <c:bubble3D val="0"/>
            <c:spPr>
              <a:solidFill>
                <a:schemeClr val="accent1">
                  <a:shade val="80000"/>
                </a:schemeClr>
              </a:solidFill>
              <a:ln w="19050">
                <a:noFill/>
              </a:ln>
              <a:effectLst/>
            </c:spPr>
            <c:extLst>
              <c:ext xmlns:c16="http://schemas.microsoft.com/office/drawing/2014/chart" uri="{C3380CC4-5D6E-409C-BE32-E72D297353CC}">
                <c16:uniqueId val="{00000007-EBF4-AB4B-8AD0-0CB0A253FC1A}"/>
              </c:ext>
            </c:extLst>
          </c:dPt>
          <c:dPt>
            <c:idx val="4"/>
            <c:bubble3D val="0"/>
            <c:spPr>
              <a:solidFill>
                <a:schemeClr val="accent1">
                  <a:shade val="93000"/>
                </a:schemeClr>
              </a:solidFill>
              <a:ln w="19050">
                <a:noFill/>
              </a:ln>
              <a:effectLst/>
            </c:spPr>
            <c:extLst>
              <c:ext xmlns:c16="http://schemas.microsoft.com/office/drawing/2014/chart" uri="{C3380CC4-5D6E-409C-BE32-E72D297353CC}">
                <c16:uniqueId val="{00000009-EBF4-AB4B-8AD0-0CB0A253FC1A}"/>
              </c:ext>
            </c:extLst>
          </c:dPt>
          <c:dPt>
            <c:idx val="5"/>
            <c:bubble3D val="0"/>
            <c:spPr>
              <a:solidFill>
                <a:schemeClr val="accent1">
                  <a:tint val="94000"/>
                </a:schemeClr>
              </a:solidFill>
              <a:ln w="19050">
                <a:noFill/>
              </a:ln>
              <a:effectLst/>
            </c:spPr>
            <c:extLst>
              <c:ext xmlns:c16="http://schemas.microsoft.com/office/drawing/2014/chart" uri="{C3380CC4-5D6E-409C-BE32-E72D297353CC}">
                <c16:uniqueId val="{0000000B-EBF4-AB4B-8AD0-0CB0A253FC1A}"/>
              </c:ext>
            </c:extLst>
          </c:dPt>
          <c:dPt>
            <c:idx val="6"/>
            <c:bubble3D val="0"/>
            <c:spPr>
              <a:solidFill>
                <a:schemeClr val="accent1">
                  <a:tint val="81000"/>
                </a:schemeClr>
              </a:solidFill>
              <a:ln w="19050">
                <a:noFill/>
              </a:ln>
              <a:effectLst/>
            </c:spPr>
            <c:extLst>
              <c:ext xmlns:c16="http://schemas.microsoft.com/office/drawing/2014/chart" uri="{C3380CC4-5D6E-409C-BE32-E72D297353CC}">
                <c16:uniqueId val="{0000000D-EBF4-AB4B-8AD0-0CB0A253FC1A}"/>
              </c:ext>
            </c:extLst>
          </c:dPt>
          <c:dPt>
            <c:idx val="7"/>
            <c:bubble3D val="0"/>
            <c:spPr>
              <a:solidFill>
                <a:schemeClr val="accent1">
                  <a:tint val="69000"/>
                </a:schemeClr>
              </a:solidFill>
              <a:ln w="19050">
                <a:noFill/>
              </a:ln>
              <a:effectLst/>
            </c:spPr>
            <c:extLst>
              <c:ext xmlns:c16="http://schemas.microsoft.com/office/drawing/2014/chart" uri="{C3380CC4-5D6E-409C-BE32-E72D297353CC}">
                <c16:uniqueId val="{0000000F-EBF4-AB4B-8AD0-0CB0A253FC1A}"/>
              </c:ext>
            </c:extLst>
          </c:dPt>
          <c:dPt>
            <c:idx val="8"/>
            <c:bubble3D val="0"/>
            <c:spPr>
              <a:solidFill>
                <a:schemeClr val="accent1">
                  <a:tint val="56000"/>
                </a:schemeClr>
              </a:solidFill>
              <a:ln w="19050">
                <a:noFill/>
              </a:ln>
              <a:effectLst/>
            </c:spPr>
            <c:extLst>
              <c:ext xmlns:c16="http://schemas.microsoft.com/office/drawing/2014/chart" uri="{C3380CC4-5D6E-409C-BE32-E72D297353CC}">
                <c16:uniqueId val="{00000011-EBF4-AB4B-8AD0-0CB0A253FC1A}"/>
              </c:ext>
            </c:extLst>
          </c:dPt>
          <c:dPt>
            <c:idx val="9"/>
            <c:bubble3D val="0"/>
            <c:spPr>
              <a:solidFill>
                <a:schemeClr val="accent1">
                  <a:tint val="43000"/>
                </a:schemeClr>
              </a:solidFill>
              <a:ln w="19050">
                <a:noFill/>
              </a:ln>
              <a:effectLst/>
            </c:spPr>
            <c:extLst>
              <c:ext xmlns:c16="http://schemas.microsoft.com/office/drawing/2014/chart" uri="{C3380CC4-5D6E-409C-BE32-E72D297353CC}">
                <c16:uniqueId val="{00000013-EBF4-AB4B-8AD0-0CB0A253FC1A}"/>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Sheet1!$A$2:$A$11</c:f>
              <c:strCache>
                <c:ptCount val="10"/>
                <c:pt idx="0">
                  <c:v>AAPL</c:v>
                </c:pt>
                <c:pt idx="1">
                  <c:v>MSFT</c:v>
                </c:pt>
                <c:pt idx="2">
                  <c:v>AMZN</c:v>
                </c:pt>
                <c:pt idx="3">
                  <c:v>NVDA</c:v>
                </c:pt>
                <c:pt idx="4">
                  <c:v>GOOGL</c:v>
                </c:pt>
                <c:pt idx="5">
                  <c:v>META</c:v>
                </c:pt>
                <c:pt idx="6">
                  <c:v>TSLA</c:v>
                </c:pt>
                <c:pt idx="7">
                  <c:v>GOOG</c:v>
                </c:pt>
                <c:pt idx="8">
                  <c:v>BRK.B</c:v>
                </c:pt>
                <c:pt idx="9">
                  <c:v>UNH</c:v>
                </c:pt>
              </c:strCache>
            </c:strRef>
          </c:cat>
          <c:val>
            <c:numRef>
              <c:f>Sheet1!$B$2:$B$11</c:f>
              <c:numCache>
                <c:formatCode>0.00%</c:formatCode>
                <c:ptCount val="10"/>
                <c:pt idx="0">
                  <c:v>0.23096682105333474</c:v>
                </c:pt>
                <c:pt idx="1">
                  <c:v>0.21439188676038737</c:v>
                </c:pt>
                <c:pt idx="2">
                  <c:v>0.11088755572734688</c:v>
                </c:pt>
                <c:pt idx="3">
                  <c:v>9.8107063243700332E-2</c:v>
                </c:pt>
                <c:pt idx="4">
                  <c:v>6.8283416678942055E-2</c:v>
                </c:pt>
                <c:pt idx="5">
                  <c:v>6.119305214115496E-2</c:v>
                </c:pt>
                <c:pt idx="6">
                  <c:v>5.9196137322071275E-2</c:v>
                </c:pt>
                <c:pt idx="7">
                  <c:v>5.8919648025197384E-2</c:v>
                </c:pt>
                <c:pt idx="8">
                  <c:v>5.6502074725911039E-2</c:v>
                </c:pt>
                <c:pt idx="9">
                  <c:v>4.1552344321953809E-2</c:v>
                </c:pt>
              </c:numCache>
            </c:numRef>
          </c:val>
          <c:extLst>
            <c:ext xmlns:c16="http://schemas.microsoft.com/office/drawing/2014/chart" uri="{C3380CC4-5D6E-409C-BE32-E72D297353CC}">
              <c16:uniqueId val="{00000014-EBF4-AB4B-8AD0-0CB0A253FC1A}"/>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Cumulative Return</a:t>
            </a:r>
          </a:p>
        </c:rich>
      </c:tx>
      <c:layout>
        <c:manualLayout>
          <c:xMode val="edge"/>
          <c:yMode val="edge"/>
          <c:x val="0.34513745039806332"/>
          <c:y val="2.12001861050345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0"/>
          <c:tx>
            <c:v>AMZN</c:v>
          </c:tx>
          <c:spPr>
            <a:solidFill>
              <a:srgbClr val="E4AC18"/>
            </a:solidFill>
            <a:ln>
              <a:noFill/>
            </a:ln>
            <a:effectLst/>
          </c:spPr>
          <c:invertIfNegative val="0"/>
          <c:cat>
            <c:numRef>
              <c:f>Sheet1!$A$31:$A$53</c:f>
              <c:numCache>
                <c:formatCode>General</c:formatCode>
                <c:ptCount val="23"/>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numCache>
            </c:numRef>
          </c:cat>
          <c:val>
            <c:numRef>
              <c:f>Sheet1!$B$31:$B$53</c:f>
              <c:numCache>
                <c:formatCode>General</c:formatCode>
                <c:ptCount val="23"/>
                <c:pt idx="0">
                  <c:v>-0.03</c:v>
                </c:pt>
                <c:pt idx="1">
                  <c:v>0.02</c:v>
                </c:pt>
                <c:pt idx="2">
                  <c:v>0.24</c:v>
                </c:pt>
                <c:pt idx="3">
                  <c:v>0.18</c:v>
                </c:pt>
                <c:pt idx="4">
                  <c:v>0.2</c:v>
                </c:pt>
                <c:pt idx="5">
                  <c:v>0.15</c:v>
                </c:pt>
                <c:pt idx="6">
                  <c:v>0.5</c:v>
                </c:pt>
                <c:pt idx="7">
                  <c:v>0.23</c:v>
                </c:pt>
                <c:pt idx="8">
                  <c:v>0.76</c:v>
                </c:pt>
                <c:pt idx="9">
                  <c:v>1.06</c:v>
                </c:pt>
                <c:pt idx="10">
                  <c:v>1.01</c:v>
                </c:pt>
                <c:pt idx="11">
                  <c:v>1.51</c:v>
                </c:pt>
                <c:pt idx="12">
                  <c:v>2.46</c:v>
                </c:pt>
                <c:pt idx="13">
                  <c:v>1.89</c:v>
                </c:pt>
                <c:pt idx="14">
                  <c:v>4.24</c:v>
                </c:pt>
                <c:pt idx="15">
                  <c:v>4.72</c:v>
                </c:pt>
                <c:pt idx="16">
                  <c:v>7.41</c:v>
                </c:pt>
                <c:pt idx="17">
                  <c:v>9.5500000000000007</c:v>
                </c:pt>
                <c:pt idx="18">
                  <c:v>11.77</c:v>
                </c:pt>
                <c:pt idx="19">
                  <c:v>20.83</c:v>
                </c:pt>
                <c:pt idx="20">
                  <c:v>21.33</c:v>
                </c:pt>
                <c:pt idx="21">
                  <c:v>10.7</c:v>
                </c:pt>
                <c:pt idx="22">
                  <c:v>17.88</c:v>
                </c:pt>
              </c:numCache>
            </c:numRef>
          </c:val>
          <c:extLst>
            <c:ext xmlns:c16="http://schemas.microsoft.com/office/drawing/2014/chart" uri="{C3380CC4-5D6E-409C-BE32-E72D297353CC}">
              <c16:uniqueId val="{00000000-83BF-1941-B86A-FA4DC1DE1346}"/>
            </c:ext>
          </c:extLst>
        </c:ser>
        <c:dLbls>
          <c:showLegendKey val="0"/>
          <c:showVal val="0"/>
          <c:showCatName val="0"/>
          <c:showSerName val="0"/>
          <c:showPercent val="0"/>
          <c:showBubbleSize val="0"/>
        </c:dLbls>
        <c:gapWidth val="150"/>
        <c:axId val="1339358112"/>
        <c:axId val="1339658480"/>
      </c:barChart>
      <c:lineChart>
        <c:grouping val="standard"/>
        <c:varyColors val="0"/>
        <c:ser>
          <c:idx val="2"/>
          <c:order val="1"/>
          <c:tx>
            <c:v>SPY</c:v>
          </c:tx>
          <c:spPr>
            <a:ln w="28575" cap="rnd">
              <a:solidFill>
                <a:schemeClr val="accent6">
                  <a:shade val="65000"/>
                </a:schemeClr>
              </a:solidFill>
              <a:round/>
            </a:ln>
            <a:effectLst/>
          </c:spPr>
          <c:marker>
            <c:symbol val="none"/>
          </c:marker>
          <c:cat>
            <c:numRef>
              <c:f>Sheet1!$A$31:$A$53</c:f>
              <c:numCache>
                <c:formatCode>General</c:formatCode>
                <c:ptCount val="23"/>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numCache>
            </c:numRef>
          </c:cat>
          <c:val>
            <c:numRef>
              <c:f>Sheet1!$C$31:$C$53</c:f>
              <c:numCache>
                <c:formatCode>General</c:formatCode>
                <c:ptCount val="23"/>
                <c:pt idx="0">
                  <c:v>-0.01</c:v>
                </c:pt>
                <c:pt idx="1">
                  <c:v>-0.03</c:v>
                </c:pt>
                <c:pt idx="2">
                  <c:v>-0.01</c:v>
                </c:pt>
                <c:pt idx="3">
                  <c:v>0</c:v>
                </c:pt>
                <c:pt idx="4">
                  <c:v>0</c:v>
                </c:pt>
                <c:pt idx="5">
                  <c:v>0.02</c:v>
                </c:pt>
                <c:pt idx="6">
                  <c:v>0.03</c:v>
                </c:pt>
                <c:pt idx="7">
                  <c:v>-0.02</c:v>
                </c:pt>
                <c:pt idx="8">
                  <c:v>0</c:v>
                </c:pt>
                <c:pt idx="9">
                  <c:v>0.02</c:v>
                </c:pt>
                <c:pt idx="10">
                  <c:v>0.02</c:v>
                </c:pt>
                <c:pt idx="11">
                  <c:v>0.04</c:v>
                </c:pt>
                <c:pt idx="12">
                  <c:v>0.08</c:v>
                </c:pt>
                <c:pt idx="13">
                  <c:v>0.1</c:v>
                </c:pt>
                <c:pt idx="14">
                  <c:v>0.11</c:v>
                </c:pt>
                <c:pt idx="15">
                  <c:v>0.13</c:v>
                </c:pt>
                <c:pt idx="16">
                  <c:v>0.18</c:v>
                </c:pt>
                <c:pt idx="17">
                  <c:v>0.17</c:v>
                </c:pt>
                <c:pt idx="18">
                  <c:v>0.25</c:v>
                </c:pt>
                <c:pt idx="19">
                  <c:v>0.32</c:v>
                </c:pt>
                <c:pt idx="20">
                  <c:v>0.44</c:v>
                </c:pt>
                <c:pt idx="21">
                  <c:v>0.34</c:v>
                </c:pt>
                <c:pt idx="22">
                  <c:v>0.42</c:v>
                </c:pt>
              </c:numCache>
            </c:numRef>
          </c:val>
          <c:smooth val="0"/>
          <c:extLst>
            <c:ext xmlns:c16="http://schemas.microsoft.com/office/drawing/2014/chart" uri="{C3380CC4-5D6E-409C-BE32-E72D297353CC}">
              <c16:uniqueId val="{00000001-83BF-1941-B86A-FA4DC1DE1346}"/>
            </c:ext>
          </c:extLst>
        </c:ser>
        <c:dLbls>
          <c:showLegendKey val="0"/>
          <c:showVal val="0"/>
          <c:showCatName val="0"/>
          <c:showSerName val="0"/>
          <c:showPercent val="0"/>
          <c:showBubbleSize val="0"/>
        </c:dLbls>
        <c:marker val="1"/>
        <c:smooth val="0"/>
        <c:axId val="1325993568"/>
        <c:axId val="1326655840"/>
      </c:lineChart>
      <c:catAx>
        <c:axId val="13393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9658480"/>
        <c:crosses val="autoZero"/>
        <c:auto val="1"/>
        <c:lblAlgn val="ctr"/>
        <c:lblOffset val="100"/>
        <c:noMultiLvlLbl val="0"/>
      </c:catAx>
      <c:valAx>
        <c:axId val="13396584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9358112"/>
        <c:crosses val="autoZero"/>
        <c:crossBetween val="between"/>
      </c:valAx>
      <c:valAx>
        <c:axId val="1326655840"/>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5993568"/>
        <c:crosses val="max"/>
        <c:crossBetween val="between"/>
      </c:valAx>
      <c:catAx>
        <c:axId val="1325993568"/>
        <c:scaling>
          <c:orientation val="minMax"/>
        </c:scaling>
        <c:delete val="1"/>
        <c:axPos val="b"/>
        <c:numFmt formatCode="General" sourceLinked="1"/>
        <c:majorTickMark val="none"/>
        <c:minorTickMark val="none"/>
        <c:tickLblPos val="nextTo"/>
        <c:crossAx val="1326655840"/>
        <c:crosses val="autoZero"/>
        <c:auto val="1"/>
        <c:lblAlgn val="ctr"/>
        <c:lblOffset val="100"/>
        <c:noMultiLvlLbl val="0"/>
      </c:catAx>
      <c:spPr>
        <a:noFill/>
        <a:ln>
          <a:noFill/>
        </a:ln>
        <a:effectLst/>
      </c:spPr>
    </c:plotArea>
    <c:legend>
      <c:legendPos val="b"/>
      <c:layout>
        <c:manualLayout>
          <c:xMode val="edge"/>
          <c:yMode val="edge"/>
          <c:x val="0.3812612479583829"/>
          <c:y val="0.87603371419481468"/>
          <c:w val="0.2374775040832342"/>
          <c:h val="5.105521315365506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Adj Close Price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Sheet2!$B$2</c:f>
              <c:strCache>
                <c:ptCount val="1"/>
                <c:pt idx="0">
                  <c:v>SPY</c:v>
                </c:pt>
              </c:strCache>
            </c:strRef>
          </c:tx>
          <c:spPr>
            <a:ln w="28575" cap="rnd">
              <a:solidFill>
                <a:schemeClr val="accent1"/>
              </a:solidFill>
              <a:round/>
            </a:ln>
            <a:effectLst/>
          </c:spPr>
          <c:marker>
            <c:symbol val="none"/>
          </c:marker>
          <c:cat>
            <c:numRef>
              <c:f>Sheet2!$A$3:$A$317</c:f>
              <c:numCache>
                <c:formatCode>m/d/yy</c:formatCode>
                <c:ptCount val="315"/>
                <c:pt idx="0">
                  <c:v>35582</c:v>
                </c:pt>
                <c:pt idx="1">
                  <c:v>35612</c:v>
                </c:pt>
                <c:pt idx="2">
                  <c:v>35643</c:v>
                </c:pt>
                <c:pt idx="3">
                  <c:v>35674</c:v>
                </c:pt>
                <c:pt idx="4">
                  <c:v>35704</c:v>
                </c:pt>
                <c:pt idx="5">
                  <c:v>35735</c:v>
                </c:pt>
                <c:pt idx="6">
                  <c:v>35765</c:v>
                </c:pt>
                <c:pt idx="7">
                  <c:v>35796</c:v>
                </c:pt>
                <c:pt idx="8">
                  <c:v>35827</c:v>
                </c:pt>
                <c:pt idx="9">
                  <c:v>35855</c:v>
                </c:pt>
                <c:pt idx="10">
                  <c:v>35886</c:v>
                </c:pt>
                <c:pt idx="11">
                  <c:v>35916</c:v>
                </c:pt>
                <c:pt idx="12">
                  <c:v>35947</c:v>
                </c:pt>
                <c:pt idx="13">
                  <c:v>35977</c:v>
                </c:pt>
                <c:pt idx="14">
                  <c:v>36008</c:v>
                </c:pt>
                <c:pt idx="15">
                  <c:v>36039</c:v>
                </c:pt>
                <c:pt idx="16">
                  <c:v>36069</c:v>
                </c:pt>
                <c:pt idx="17">
                  <c:v>36100</c:v>
                </c:pt>
                <c:pt idx="18">
                  <c:v>36130</c:v>
                </c:pt>
                <c:pt idx="19">
                  <c:v>36161</c:v>
                </c:pt>
                <c:pt idx="20">
                  <c:v>36192</c:v>
                </c:pt>
                <c:pt idx="21">
                  <c:v>36220</c:v>
                </c:pt>
                <c:pt idx="22">
                  <c:v>36251</c:v>
                </c:pt>
                <c:pt idx="23">
                  <c:v>36281</c:v>
                </c:pt>
                <c:pt idx="24">
                  <c:v>36312</c:v>
                </c:pt>
                <c:pt idx="25">
                  <c:v>36342</c:v>
                </c:pt>
                <c:pt idx="26">
                  <c:v>36373</c:v>
                </c:pt>
                <c:pt idx="27">
                  <c:v>36404</c:v>
                </c:pt>
                <c:pt idx="28">
                  <c:v>36434</c:v>
                </c:pt>
                <c:pt idx="29">
                  <c:v>36465</c:v>
                </c:pt>
                <c:pt idx="30">
                  <c:v>36495</c:v>
                </c:pt>
                <c:pt idx="31">
                  <c:v>36526</c:v>
                </c:pt>
                <c:pt idx="32">
                  <c:v>36557</c:v>
                </c:pt>
                <c:pt idx="33">
                  <c:v>36586</c:v>
                </c:pt>
                <c:pt idx="34">
                  <c:v>36617</c:v>
                </c:pt>
                <c:pt idx="35">
                  <c:v>36647</c:v>
                </c:pt>
                <c:pt idx="36">
                  <c:v>36678</c:v>
                </c:pt>
                <c:pt idx="37">
                  <c:v>36708</c:v>
                </c:pt>
                <c:pt idx="38">
                  <c:v>36739</c:v>
                </c:pt>
                <c:pt idx="39">
                  <c:v>36770</c:v>
                </c:pt>
                <c:pt idx="40">
                  <c:v>36800</c:v>
                </c:pt>
                <c:pt idx="41">
                  <c:v>36831</c:v>
                </c:pt>
                <c:pt idx="42">
                  <c:v>36861</c:v>
                </c:pt>
                <c:pt idx="43">
                  <c:v>36892</c:v>
                </c:pt>
                <c:pt idx="44">
                  <c:v>36923</c:v>
                </c:pt>
                <c:pt idx="45">
                  <c:v>36951</c:v>
                </c:pt>
                <c:pt idx="46">
                  <c:v>36982</c:v>
                </c:pt>
                <c:pt idx="47">
                  <c:v>37012</c:v>
                </c:pt>
                <c:pt idx="48">
                  <c:v>37043</c:v>
                </c:pt>
                <c:pt idx="49">
                  <c:v>37073</c:v>
                </c:pt>
                <c:pt idx="50">
                  <c:v>37104</c:v>
                </c:pt>
                <c:pt idx="51">
                  <c:v>37135</c:v>
                </c:pt>
                <c:pt idx="52">
                  <c:v>37165</c:v>
                </c:pt>
                <c:pt idx="53">
                  <c:v>37196</c:v>
                </c:pt>
                <c:pt idx="54">
                  <c:v>37226</c:v>
                </c:pt>
                <c:pt idx="55">
                  <c:v>37257</c:v>
                </c:pt>
                <c:pt idx="56">
                  <c:v>37288</c:v>
                </c:pt>
                <c:pt idx="57">
                  <c:v>37316</c:v>
                </c:pt>
                <c:pt idx="58">
                  <c:v>37347</c:v>
                </c:pt>
                <c:pt idx="59">
                  <c:v>37377</c:v>
                </c:pt>
                <c:pt idx="60">
                  <c:v>37408</c:v>
                </c:pt>
                <c:pt idx="61">
                  <c:v>37438</c:v>
                </c:pt>
                <c:pt idx="62">
                  <c:v>37469</c:v>
                </c:pt>
                <c:pt idx="63">
                  <c:v>37500</c:v>
                </c:pt>
                <c:pt idx="64">
                  <c:v>37530</c:v>
                </c:pt>
                <c:pt idx="65">
                  <c:v>37561</c:v>
                </c:pt>
                <c:pt idx="66">
                  <c:v>37591</c:v>
                </c:pt>
                <c:pt idx="67">
                  <c:v>37622</c:v>
                </c:pt>
                <c:pt idx="68">
                  <c:v>37653</c:v>
                </c:pt>
                <c:pt idx="69">
                  <c:v>37681</c:v>
                </c:pt>
                <c:pt idx="70">
                  <c:v>37712</c:v>
                </c:pt>
                <c:pt idx="71">
                  <c:v>37742</c:v>
                </c:pt>
                <c:pt idx="72">
                  <c:v>37773</c:v>
                </c:pt>
                <c:pt idx="73">
                  <c:v>37803</c:v>
                </c:pt>
                <c:pt idx="74">
                  <c:v>37834</c:v>
                </c:pt>
                <c:pt idx="75">
                  <c:v>37865</c:v>
                </c:pt>
                <c:pt idx="76">
                  <c:v>37895</c:v>
                </c:pt>
                <c:pt idx="77">
                  <c:v>37926</c:v>
                </c:pt>
                <c:pt idx="78">
                  <c:v>37956</c:v>
                </c:pt>
                <c:pt idx="79">
                  <c:v>37987</c:v>
                </c:pt>
                <c:pt idx="80">
                  <c:v>38018</c:v>
                </c:pt>
                <c:pt idx="81">
                  <c:v>38047</c:v>
                </c:pt>
                <c:pt idx="82">
                  <c:v>38078</c:v>
                </c:pt>
                <c:pt idx="83">
                  <c:v>38108</c:v>
                </c:pt>
                <c:pt idx="84">
                  <c:v>38139</c:v>
                </c:pt>
                <c:pt idx="85">
                  <c:v>38169</c:v>
                </c:pt>
                <c:pt idx="86">
                  <c:v>38200</c:v>
                </c:pt>
                <c:pt idx="87">
                  <c:v>38231</c:v>
                </c:pt>
                <c:pt idx="88">
                  <c:v>38261</c:v>
                </c:pt>
                <c:pt idx="89">
                  <c:v>38292</c:v>
                </c:pt>
                <c:pt idx="90">
                  <c:v>38322</c:v>
                </c:pt>
                <c:pt idx="91">
                  <c:v>38353</c:v>
                </c:pt>
                <c:pt idx="92">
                  <c:v>38384</c:v>
                </c:pt>
                <c:pt idx="93">
                  <c:v>38412</c:v>
                </c:pt>
                <c:pt idx="94">
                  <c:v>38443</c:v>
                </c:pt>
                <c:pt idx="95">
                  <c:v>38473</c:v>
                </c:pt>
                <c:pt idx="96">
                  <c:v>38504</c:v>
                </c:pt>
                <c:pt idx="97">
                  <c:v>38534</c:v>
                </c:pt>
                <c:pt idx="98">
                  <c:v>38565</c:v>
                </c:pt>
                <c:pt idx="99">
                  <c:v>38596</c:v>
                </c:pt>
                <c:pt idx="100">
                  <c:v>38626</c:v>
                </c:pt>
                <c:pt idx="101">
                  <c:v>38657</c:v>
                </c:pt>
                <c:pt idx="102">
                  <c:v>38687</c:v>
                </c:pt>
                <c:pt idx="103">
                  <c:v>38718</c:v>
                </c:pt>
                <c:pt idx="104">
                  <c:v>38749</c:v>
                </c:pt>
                <c:pt idx="105">
                  <c:v>38777</c:v>
                </c:pt>
                <c:pt idx="106">
                  <c:v>38808</c:v>
                </c:pt>
                <c:pt idx="107">
                  <c:v>38838</c:v>
                </c:pt>
                <c:pt idx="108">
                  <c:v>38869</c:v>
                </c:pt>
                <c:pt idx="109">
                  <c:v>38899</c:v>
                </c:pt>
                <c:pt idx="110">
                  <c:v>38930</c:v>
                </c:pt>
                <c:pt idx="111">
                  <c:v>38961</c:v>
                </c:pt>
                <c:pt idx="112">
                  <c:v>38991</c:v>
                </c:pt>
                <c:pt idx="113">
                  <c:v>39022</c:v>
                </c:pt>
                <c:pt idx="114">
                  <c:v>39052</c:v>
                </c:pt>
                <c:pt idx="115">
                  <c:v>39083</c:v>
                </c:pt>
                <c:pt idx="116">
                  <c:v>39114</c:v>
                </c:pt>
                <c:pt idx="117">
                  <c:v>39142</c:v>
                </c:pt>
                <c:pt idx="118">
                  <c:v>39173</c:v>
                </c:pt>
                <c:pt idx="119">
                  <c:v>39203</c:v>
                </c:pt>
                <c:pt idx="120">
                  <c:v>39234</c:v>
                </c:pt>
                <c:pt idx="121">
                  <c:v>39264</c:v>
                </c:pt>
                <c:pt idx="122">
                  <c:v>39295</c:v>
                </c:pt>
                <c:pt idx="123">
                  <c:v>39326</c:v>
                </c:pt>
                <c:pt idx="124">
                  <c:v>39356</c:v>
                </c:pt>
                <c:pt idx="125">
                  <c:v>39387</c:v>
                </c:pt>
                <c:pt idx="126">
                  <c:v>39417</c:v>
                </c:pt>
                <c:pt idx="127">
                  <c:v>39448</c:v>
                </c:pt>
                <c:pt idx="128">
                  <c:v>39479</c:v>
                </c:pt>
                <c:pt idx="129">
                  <c:v>39508</c:v>
                </c:pt>
                <c:pt idx="130">
                  <c:v>39539</c:v>
                </c:pt>
                <c:pt idx="131">
                  <c:v>39569</c:v>
                </c:pt>
                <c:pt idx="132">
                  <c:v>39600</c:v>
                </c:pt>
                <c:pt idx="133">
                  <c:v>39630</c:v>
                </c:pt>
                <c:pt idx="134">
                  <c:v>39661</c:v>
                </c:pt>
                <c:pt idx="135">
                  <c:v>39692</c:v>
                </c:pt>
                <c:pt idx="136">
                  <c:v>39722</c:v>
                </c:pt>
                <c:pt idx="137">
                  <c:v>39753</c:v>
                </c:pt>
                <c:pt idx="138">
                  <c:v>39783</c:v>
                </c:pt>
                <c:pt idx="139">
                  <c:v>39814</c:v>
                </c:pt>
                <c:pt idx="140">
                  <c:v>39845</c:v>
                </c:pt>
                <c:pt idx="141">
                  <c:v>39873</c:v>
                </c:pt>
                <c:pt idx="142">
                  <c:v>39904</c:v>
                </c:pt>
                <c:pt idx="143">
                  <c:v>39934</c:v>
                </c:pt>
                <c:pt idx="144">
                  <c:v>39965</c:v>
                </c:pt>
                <c:pt idx="145">
                  <c:v>39995</c:v>
                </c:pt>
                <c:pt idx="146">
                  <c:v>40026</c:v>
                </c:pt>
                <c:pt idx="147">
                  <c:v>40057</c:v>
                </c:pt>
                <c:pt idx="148">
                  <c:v>40087</c:v>
                </c:pt>
                <c:pt idx="149">
                  <c:v>40118</c:v>
                </c:pt>
                <c:pt idx="150">
                  <c:v>40148</c:v>
                </c:pt>
                <c:pt idx="151">
                  <c:v>40179</c:v>
                </c:pt>
                <c:pt idx="152">
                  <c:v>40210</c:v>
                </c:pt>
                <c:pt idx="153">
                  <c:v>40238</c:v>
                </c:pt>
                <c:pt idx="154">
                  <c:v>40269</c:v>
                </c:pt>
                <c:pt idx="155">
                  <c:v>40299</c:v>
                </c:pt>
                <c:pt idx="156">
                  <c:v>40330</c:v>
                </c:pt>
                <c:pt idx="157">
                  <c:v>40360</c:v>
                </c:pt>
                <c:pt idx="158">
                  <c:v>40391</c:v>
                </c:pt>
                <c:pt idx="159">
                  <c:v>40422</c:v>
                </c:pt>
                <c:pt idx="160">
                  <c:v>40452</c:v>
                </c:pt>
                <c:pt idx="161">
                  <c:v>40483</c:v>
                </c:pt>
                <c:pt idx="162">
                  <c:v>40513</c:v>
                </c:pt>
                <c:pt idx="163">
                  <c:v>40544</c:v>
                </c:pt>
                <c:pt idx="164">
                  <c:v>40575</c:v>
                </c:pt>
                <c:pt idx="165">
                  <c:v>40603</c:v>
                </c:pt>
                <c:pt idx="166">
                  <c:v>40634</c:v>
                </c:pt>
                <c:pt idx="167">
                  <c:v>40664</c:v>
                </c:pt>
                <c:pt idx="168">
                  <c:v>40695</c:v>
                </c:pt>
                <c:pt idx="169">
                  <c:v>40725</c:v>
                </c:pt>
                <c:pt idx="170">
                  <c:v>40756</c:v>
                </c:pt>
                <c:pt idx="171">
                  <c:v>40787</c:v>
                </c:pt>
                <c:pt idx="172">
                  <c:v>40817</c:v>
                </c:pt>
                <c:pt idx="173">
                  <c:v>40848</c:v>
                </c:pt>
                <c:pt idx="174">
                  <c:v>40878</c:v>
                </c:pt>
                <c:pt idx="175">
                  <c:v>40909</c:v>
                </c:pt>
                <c:pt idx="176">
                  <c:v>40940</c:v>
                </c:pt>
                <c:pt idx="177">
                  <c:v>40969</c:v>
                </c:pt>
                <c:pt idx="178">
                  <c:v>41000</c:v>
                </c:pt>
                <c:pt idx="179">
                  <c:v>41030</c:v>
                </c:pt>
                <c:pt idx="180">
                  <c:v>41061</c:v>
                </c:pt>
                <c:pt idx="181">
                  <c:v>41091</c:v>
                </c:pt>
                <c:pt idx="182">
                  <c:v>41122</c:v>
                </c:pt>
                <c:pt idx="183">
                  <c:v>41153</c:v>
                </c:pt>
                <c:pt idx="184">
                  <c:v>41183</c:v>
                </c:pt>
                <c:pt idx="185">
                  <c:v>41214</c:v>
                </c:pt>
                <c:pt idx="186">
                  <c:v>41244</c:v>
                </c:pt>
                <c:pt idx="187">
                  <c:v>41275</c:v>
                </c:pt>
                <c:pt idx="188">
                  <c:v>41306</c:v>
                </c:pt>
                <c:pt idx="189">
                  <c:v>41334</c:v>
                </c:pt>
                <c:pt idx="190">
                  <c:v>41365</c:v>
                </c:pt>
                <c:pt idx="191">
                  <c:v>41395</c:v>
                </c:pt>
                <c:pt idx="192">
                  <c:v>41426</c:v>
                </c:pt>
                <c:pt idx="193">
                  <c:v>41456</c:v>
                </c:pt>
                <c:pt idx="194">
                  <c:v>41487</c:v>
                </c:pt>
                <c:pt idx="195">
                  <c:v>41518</c:v>
                </c:pt>
                <c:pt idx="196">
                  <c:v>41548</c:v>
                </c:pt>
                <c:pt idx="197">
                  <c:v>41579</c:v>
                </c:pt>
                <c:pt idx="198">
                  <c:v>41609</c:v>
                </c:pt>
                <c:pt idx="199">
                  <c:v>41640</c:v>
                </c:pt>
                <c:pt idx="200">
                  <c:v>41671</c:v>
                </c:pt>
                <c:pt idx="201">
                  <c:v>41699</c:v>
                </c:pt>
                <c:pt idx="202">
                  <c:v>41730</c:v>
                </c:pt>
                <c:pt idx="203">
                  <c:v>41760</c:v>
                </c:pt>
                <c:pt idx="204">
                  <c:v>41791</c:v>
                </c:pt>
                <c:pt idx="205">
                  <c:v>41821</c:v>
                </c:pt>
                <c:pt idx="206">
                  <c:v>41852</c:v>
                </c:pt>
                <c:pt idx="207">
                  <c:v>41883</c:v>
                </c:pt>
                <c:pt idx="208">
                  <c:v>41913</c:v>
                </c:pt>
                <c:pt idx="209">
                  <c:v>41944</c:v>
                </c:pt>
                <c:pt idx="210">
                  <c:v>41974</c:v>
                </c:pt>
                <c:pt idx="211">
                  <c:v>42005</c:v>
                </c:pt>
                <c:pt idx="212">
                  <c:v>42036</c:v>
                </c:pt>
                <c:pt idx="213">
                  <c:v>42064</c:v>
                </c:pt>
                <c:pt idx="214">
                  <c:v>42095</c:v>
                </c:pt>
                <c:pt idx="215">
                  <c:v>42125</c:v>
                </c:pt>
                <c:pt idx="216">
                  <c:v>42156</c:v>
                </c:pt>
                <c:pt idx="217">
                  <c:v>42186</c:v>
                </c:pt>
                <c:pt idx="218">
                  <c:v>42217</c:v>
                </c:pt>
                <c:pt idx="219">
                  <c:v>42248</c:v>
                </c:pt>
                <c:pt idx="220">
                  <c:v>42278</c:v>
                </c:pt>
                <c:pt idx="221">
                  <c:v>42309</c:v>
                </c:pt>
                <c:pt idx="222">
                  <c:v>42339</c:v>
                </c:pt>
                <c:pt idx="223">
                  <c:v>42370</c:v>
                </c:pt>
                <c:pt idx="224">
                  <c:v>42401</c:v>
                </c:pt>
                <c:pt idx="225">
                  <c:v>42430</c:v>
                </c:pt>
                <c:pt idx="226">
                  <c:v>42461</c:v>
                </c:pt>
                <c:pt idx="227">
                  <c:v>42491</c:v>
                </c:pt>
                <c:pt idx="228">
                  <c:v>42522</c:v>
                </c:pt>
                <c:pt idx="229">
                  <c:v>42552</c:v>
                </c:pt>
                <c:pt idx="230">
                  <c:v>42583</c:v>
                </c:pt>
                <c:pt idx="231">
                  <c:v>42614</c:v>
                </c:pt>
                <c:pt idx="232">
                  <c:v>42644</c:v>
                </c:pt>
                <c:pt idx="233">
                  <c:v>42675</c:v>
                </c:pt>
                <c:pt idx="234">
                  <c:v>42705</c:v>
                </c:pt>
                <c:pt idx="235">
                  <c:v>42736</c:v>
                </c:pt>
                <c:pt idx="236">
                  <c:v>42767</c:v>
                </c:pt>
                <c:pt idx="237">
                  <c:v>42795</c:v>
                </c:pt>
                <c:pt idx="238">
                  <c:v>42826</c:v>
                </c:pt>
                <c:pt idx="239">
                  <c:v>42856</c:v>
                </c:pt>
                <c:pt idx="240">
                  <c:v>42887</c:v>
                </c:pt>
                <c:pt idx="241">
                  <c:v>42917</c:v>
                </c:pt>
                <c:pt idx="242">
                  <c:v>42948</c:v>
                </c:pt>
                <c:pt idx="243">
                  <c:v>42979</c:v>
                </c:pt>
                <c:pt idx="244">
                  <c:v>43009</c:v>
                </c:pt>
                <c:pt idx="245">
                  <c:v>43040</c:v>
                </c:pt>
                <c:pt idx="246">
                  <c:v>43070</c:v>
                </c:pt>
                <c:pt idx="247">
                  <c:v>43101</c:v>
                </c:pt>
                <c:pt idx="248">
                  <c:v>43132</c:v>
                </c:pt>
                <c:pt idx="249">
                  <c:v>43160</c:v>
                </c:pt>
                <c:pt idx="250">
                  <c:v>43191</c:v>
                </c:pt>
                <c:pt idx="251">
                  <c:v>43221</c:v>
                </c:pt>
                <c:pt idx="252">
                  <c:v>43252</c:v>
                </c:pt>
                <c:pt idx="253">
                  <c:v>43282</c:v>
                </c:pt>
                <c:pt idx="254">
                  <c:v>43313</c:v>
                </c:pt>
                <c:pt idx="255">
                  <c:v>43344</c:v>
                </c:pt>
                <c:pt idx="256">
                  <c:v>43374</c:v>
                </c:pt>
                <c:pt idx="257">
                  <c:v>43405</c:v>
                </c:pt>
                <c:pt idx="258">
                  <c:v>43435</c:v>
                </c:pt>
                <c:pt idx="259">
                  <c:v>43466</c:v>
                </c:pt>
                <c:pt idx="260">
                  <c:v>43497</c:v>
                </c:pt>
                <c:pt idx="261">
                  <c:v>43525</c:v>
                </c:pt>
                <c:pt idx="262">
                  <c:v>43556</c:v>
                </c:pt>
                <c:pt idx="263">
                  <c:v>43586</c:v>
                </c:pt>
                <c:pt idx="264">
                  <c:v>43617</c:v>
                </c:pt>
                <c:pt idx="265">
                  <c:v>43647</c:v>
                </c:pt>
                <c:pt idx="266">
                  <c:v>43678</c:v>
                </c:pt>
                <c:pt idx="267">
                  <c:v>43709</c:v>
                </c:pt>
                <c:pt idx="268">
                  <c:v>43739</c:v>
                </c:pt>
                <c:pt idx="269">
                  <c:v>43770</c:v>
                </c:pt>
                <c:pt idx="270">
                  <c:v>43800</c:v>
                </c:pt>
                <c:pt idx="271">
                  <c:v>43831</c:v>
                </c:pt>
                <c:pt idx="272">
                  <c:v>43862</c:v>
                </c:pt>
                <c:pt idx="273">
                  <c:v>43891</c:v>
                </c:pt>
                <c:pt idx="274">
                  <c:v>43922</c:v>
                </c:pt>
                <c:pt idx="275">
                  <c:v>43952</c:v>
                </c:pt>
                <c:pt idx="276">
                  <c:v>43983</c:v>
                </c:pt>
                <c:pt idx="277">
                  <c:v>44013</c:v>
                </c:pt>
                <c:pt idx="278">
                  <c:v>44044</c:v>
                </c:pt>
                <c:pt idx="279">
                  <c:v>44075</c:v>
                </c:pt>
                <c:pt idx="280">
                  <c:v>44105</c:v>
                </c:pt>
                <c:pt idx="281">
                  <c:v>44136</c:v>
                </c:pt>
                <c:pt idx="282">
                  <c:v>44166</c:v>
                </c:pt>
                <c:pt idx="283">
                  <c:v>44197</c:v>
                </c:pt>
                <c:pt idx="284">
                  <c:v>44228</c:v>
                </c:pt>
                <c:pt idx="285">
                  <c:v>44256</c:v>
                </c:pt>
                <c:pt idx="286">
                  <c:v>44287</c:v>
                </c:pt>
                <c:pt idx="287">
                  <c:v>44317</c:v>
                </c:pt>
                <c:pt idx="288">
                  <c:v>44348</c:v>
                </c:pt>
                <c:pt idx="289">
                  <c:v>44378</c:v>
                </c:pt>
                <c:pt idx="290">
                  <c:v>44409</c:v>
                </c:pt>
                <c:pt idx="291">
                  <c:v>44440</c:v>
                </c:pt>
                <c:pt idx="292">
                  <c:v>44470</c:v>
                </c:pt>
                <c:pt idx="293">
                  <c:v>44501</c:v>
                </c:pt>
                <c:pt idx="294">
                  <c:v>44531</c:v>
                </c:pt>
                <c:pt idx="295">
                  <c:v>44562</c:v>
                </c:pt>
                <c:pt idx="296">
                  <c:v>44593</c:v>
                </c:pt>
                <c:pt idx="297">
                  <c:v>44621</c:v>
                </c:pt>
                <c:pt idx="298">
                  <c:v>44652</c:v>
                </c:pt>
                <c:pt idx="299">
                  <c:v>44682</c:v>
                </c:pt>
                <c:pt idx="300">
                  <c:v>44713</c:v>
                </c:pt>
                <c:pt idx="301">
                  <c:v>44743</c:v>
                </c:pt>
                <c:pt idx="302">
                  <c:v>44774</c:v>
                </c:pt>
                <c:pt idx="303">
                  <c:v>44805</c:v>
                </c:pt>
                <c:pt idx="304">
                  <c:v>44835</c:v>
                </c:pt>
                <c:pt idx="305">
                  <c:v>44866</c:v>
                </c:pt>
                <c:pt idx="306">
                  <c:v>44896</c:v>
                </c:pt>
                <c:pt idx="307">
                  <c:v>44927</c:v>
                </c:pt>
                <c:pt idx="308">
                  <c:v>44958</c:v>
                </c:pt>
                <c:pt idx="309">
                  <c:v>44986</c:v>
                </c:pt>
                <c:pt idx="310">
                  <c:v>45017</c:v>
                </c:pt>
                <c:pt idx="311">
                  <c:v>45047</c:v>
                </c:pt>
                <c:pt idx="312">
                  <c:v>45078</c:v>
                </c:pt>
                <c:pt idx="313">
                  <c:v>45108</c:v>
                </c:pt>
                <c:pt idx="314">
                  <c:v>45139</c:v>
                </c:pt>
              </c:numCache>
            </c:numRef>
          </c:cat>
          <c:val>
            <c:numRef>
              <c:f>Sheet2!$B$3:$B$317</c:f>
              <c:numCache>
                <c:formatCode>General</c:formatCode>
                <c:ptCount val="315"/>
                <c:pt idx="0">
                  <c:v>55.458331999999999</c:v>
                </c:pt>
                <c:pt idx="1">
                  <c:v>60.087246</c:v>
                </c:pt>
                <c:pt idx="2">
                  <c:v>56.974528999999997</c:v>
                </c:pt>
                <c:pt idx="3">
                  <c:v>59.496203999999999</c:v>
                </c:pt>
                <c:pt idx="4">
                  <c:v>58.251258999999997</c:v>
                </c:pt>
                <c:pt idx="5">
                  <c:v>60.505375000000001</c:v>
                </c:pt>
                <c:pt idx="6">
                  <c:v>61.414948000000003</c:v>
                </c:pt>
                <c:pt idx="7">
                  <c:v>62.453392000000001</c:v>
                </c:pt>
                <c:pt idx="8">
                  <c:v>66.781081999999998</c:v>
                </c:pt>
                <c:pt idx="9">
                  <c:v>69.838226000000006</c:v>
                </c:pt>
                <c:pt idx="10">
                  <c:v>70.934769000000003</c:v>
                </c:pt>
                <c:pt idx="11">
                  <c:v>69.461539999999999</c:v>
                </c:pt>
                <c:pt idx="12">
                  <c:v>72.188987999999995</c:v>
                </c:pt>
                <c:pt idx="13">
                  <c:v>71.440124999999995</c:v>
                </c:pt>
                <c:pt idx="14">
                  <c:v>61.354194999999997</c:v>
                </c:pt>
                <c:pt idx="15">
                  <c:v>65.029060000000001</c:v>
                </c:pt>
                <c:pt idx="16">
                  <c:v>70.549980000000005</c:v>
                </c:pt>
                <c:pt idx="17">
                  <c:v>74.478354999999993</c:v>
                </c:pt>
                <c:pt idx="18">
                  <c:v>79.088134999999994</c:v>
                </c:pt>
                <c:pt idx="19">
                  <c:v>82.146056999999999</c:v>
                </c:pt>
                <c:pt idx="20">
                  <c:v>79.511748999999995</c:v>
                </c:pt>
                <c:pt idx="21">
                  <c:v>82.608588999999995</c:v>
                </c:pt>
                <c:pt idx="22">
                  <c:v>85.953605999999994</c:v>
                </c:pt>
                <c:pt idx="23">
                  <c:v>83.988190000000003</c:v>
                </c:pt>
                <c:pt idx="24">
                  <c:v>88.372551000000001</c:v>
                </c:pt>
                <c:pt idx="25">
                  <c:v>85.889579999999995</c:v>
                </c:pt>
                <c:pt idx="26">
                  <c:v>85.444762999999995</c:v>
                </c:pt>
                <c:pt idx="27">
                  <c:v>83.301581999999996</c:v>
                </c:pt>
                <c:pt idx="28">
                  <c:v>88.888962000000006</c:v>
                </c:pt>
                <c:pt idx="29">
                  <c:v>90.369110000000006</c:v>
                </c:pt>
                <c:pt idx="30">
                  <c:v>95.296143000000001</c:v>
                </c:pt>
                <c:pt idx="31">
                  <c:v>90.773887999999999</c:v>
                </c:pt>
                <c:pt idx="32">
                  <c:v>89.391677999999999</c:v>
                </c:pt>
                <c:pt idx="33">
                  <c:v>97.806533999999999</c:v>
                </c:pt>
                <c:pt idx="34">
                  <c:v>94.611366000000004</c:v>
                </c:pt>
                <c:pt idx="35">
                  <c:v>93.123817000000003</c:v>
                </c:pt>
                <c:pt idx="36">
                  <c:v>94.733635000000007</c:v>
                </c:pt>
                <c:pt idx="37">
                  <c:v>93.465614000000002</c:v>
                </c:pt>
                <c:pt idx="38">
                  <c:v>99.572731000000005</c:v>
                </c:pt>
                <c:pt idx="39">
                  <c:v>93.874099999999999</c:v>
                </c:pt>
                <c:pt idx="40">
                  <c:v>93.669669999999996</c:v>
                </c:pt>
                <c:pt idx="41">
                  <c:v>86.676970999999995</c:v>
                </c:pt>
                <c:pt idx="42">
                  <c:v>85.960303999999994</c:v>
                </c:pt>
                <c:pt idx="43">
                  <c:v>90.057381000000007</c:v>
                </c:pt>
                <c:pt idx="44">
                  <c:v>81.467072000000002</c:v>
                </c:pt>
                <c:pt idx="45">
                  <c:v>76.695366000000007</c:v>
                </c:pt>
                <c:pt idx="46">
                  <c:v>83.472381999999996</c:v>
                </c:pt>
                <c:pt idx="47">
                  <c:v>83.004456000000005</c:v>
                </c:pt>
                <c:pt idx="48">
                  <c:v>80.796715000000006</c:v>
                </c:pt>
                <c:pt idx="49">
                  <c:v>80.200400999999999</c:v>
                </c:pt>
                <c:pt idx="50">
                  <c:v>75.441909999999993</c:v>
                </c:pt>
                <c:pt idx="51">
                  <c:v>69.024544000000006</c:v>
                </c:pt>
                <c:pt idx="52">
                  <c:v>70.185738000000001</c:v>
                </c:pt>
                <c:pt idx="53">
                  <c:v>75.658637999999996</c:v>
                </c:pt>
                <c:pt idx="54">
                  <c:v>75.824500999999998</c:v>
                </c:pt>
                <c:pt idx="55">
                  <c:v>75.339752000000004</c:v>
                </c:pt>
                <c:pt idx="56">
                  <c:v>73.988479999999996</c:v>
                </c:pt>
                <c:pt idx="57">
                  <c:v>76.231773000000004</c:v>
                </c:pt>
                <c:pt idx="58">
                  <c:v>72.004074000000003</c:v>
                </c:pt>
                <c:pt idx="59">
                  <c:v>71.576836</c:v>
                </c:pt>
                <c:pt idx="60">
                  <c:v>66.062714</c:v>
                </c:pt>
                <c:pt idx="61">
                  <c:v>61.068665000000003</c:v>
                </c:pt>
                <c:pt idx="62">
                  <c:v>61.484012999999997</c:v>
                </c:pt>
                <c:pt idx="63">
                  <c:v>54.791663999999997</c:v>
                </c:pt>
                <c:pt idx="64">
                  <c:v>59.565967999999998</c:v>
                </c:pt>
                <c:pt idx="65">
                  <c:v>63.240020999999999</c:v>
                </c:pt>
                <c:pt idx="66">
                  <c:v>59.370826999999998</c:v>
                </c:pt>
                <c:pt idx="67">
                  <c:v>58.195168000000002</c:v>
                </c:pt>
                <c:pt idx="68">
                  <c:v>57.410778000000001</c:v>
                </c:pt>
                <c:pt idx="69">
                  <c:v>57.302562999999999</c:v>
                </c:pt>
                <c:pt idx="70">
                  <c:v>62.401637999999998</c:v>
                </c:pt>
                <c:pt idx="71">
                  <c:v>65.823516999999995</c:v>
                </c:pt>
                <c:pt idx="72">
                  <c:v>66.285163999999995</c:v>
                </c:pt>
                <c:pt idx="73">
                  <c:v>67.723868999999993</c:v>
                </c:pt>
                <c:pt idx="74">
                  <c:v>69.120728</c:v>
                </c:pt>
                <c:pt idx="75">
                  <c:v>68.105475999999996</c:v>
                </c:pt>
                <c:pt idx="76">
                  <c:v>72.026359999999997</c:v>
                </c:pt>
                <c:pt idx="77">
                  <c:v>72.812988000000004</c:v>
                </c:pt>
                <c:pt idx="78">
                  <c:v>76.116767999999993</c:v>
                </c:pt>
                <c:pt idx="79">
                  <c:v>77.988380000000006</c:v>
                </c:pt>
                <c:pt idx="80">
                  <c:v>79.046683999999999</c:v>
                </c:pt>
                <c:pt idx="81">
                  <c:v>77.727196000000006</c:v>
                </c:pt>
                <c:pt idx="82">
                  <c:v>76.523819000000003</c:v>
                </c:pt>
                <c:pt idx="83">
                  <c:v>77.834182999999996</c:v>
                </c:pt>
                <c:pt idx="84">
                  <c:v>78.985878</c:v>
                </c:pt>
                <c:pt idx="85">
                  <c:v>76.720084999999997</c:v>
                </c:pt>
                <c:pt idx="86">
                  <c:v>76.906989999999993</c:v>
                </c:pt>
                <c:pt idx="87">
                  <c:v>77.356910999999997</c:v>
                </c:pt>
                <c:pt idx="88">
                  <c:v>78.679764000000006</c:v>
                </c:pt>
                <c:pt idx="89">
                  <c:v>81.939544999999995</c:v>
                </c:pt>
                <c:pt idx="90">
                  <c:v>84.259804000000003</c:v>
                </c:pt>
                <c:pt idx="91">
                  <c:v>82.759735000000006</c:v>
                </c:pt>
                <c:pt idx="92">
                  <c:v>84.489722999999998</c:v>
                </c:pt>
                <c:pt idx="93">
                  <c:v>82.619629000000003</c:v>
                </c:pt>
                <c:pt idx="94">
                  <c:v>81.390190000000004</c:v>
                </c:pt>
                <c:pt idx="95">
                  <c:v>84.012962000000002</c:v>
                </c:pt>
                <c:pt idx="96">
                  <c:v>83.802040000000005</c:v>
                </c:pt>
                <c:pt idx="97">
                  <c:v>87.359604000000004</c:v>
                </c:pt>
                <c:pt idx="98">
                  <c:v>86.540619000000007</c:v>
                </c:pt>
                <c:pt idx="99">
                  <c:v>86.865364</c:v>
                </c:pt>
                <c:pt idx="100">
                  <c:v>85.171966999999995</c:v>
                </c:pt>
                <c:pt idx="101">
                  <c:v>88.915451000000004</c:v>
                </c:pt>
                <c:pt idx="102">
                  <c:v>88.277389999999997</c:v>
                </c:pt>
                <c:pt idx="103">
                  <c:v>90.876441999999997</c:v>
                </c:pt>
                <c:pt idx="104">
                  <c:v>91.396759000000003</c:v>
                </c:pt>
                <c:pt idx="105">
                  <c:v>92.537193000000002</c:v>
                </c:pt>
                <c:pt idx="106">
                  <c:v>94.078743000000003</c:v>
                </c:pt>
                <c:pt idx="107">
                  <c:v>91.244979999999998</c:v>
                </c:pt>
                <c:pt idx="108">
                  <c:v>91.080382999999998</c:v>
                </c:pt>
                <c:pt idx="109">
                  <c:v>91.892685</c:v>
                </c:pt>
                <c:pt idx="110">
                  <c:v>93.898003000000003</c:v>
                </c:pt>
                <c:pt idx="111">
                  <c:v>96.011146999999994</c:v>
                </c:pt>
                <c:pt idx="112">
                  <c:v>99.472633000000002</c:v>
                </c:pt>
                <c:pt idx="113">
                  <c:v>101.450699</c:v>
                </c:pt>
                <c:pt idx="114">
                  <c:v>102.237602</c:v>
                </c:pt>
                <c:pt idx="115">
                  <c:v>104.353477</c:v>
                </c:pt>
                <c:pt idx="116">
                  <c:v>102.306297</c:v>
                </c:pt>
                <c:pt idx="117">
                  <c:v>103.083107</c:v>
                </c:pt>
                <c:pt idx="118">
                  <c:v>108.07620199999999</c:v>
                </c:pt>
                <c:pt idx="119">
                  <c:v>111.742149</c:v>
                </c:pt>
                <c:pt idx="120">
                  <c:v>109.635902</c:v>
                </c:pt>
                <c:pt idx="121">
                  <c:v>106.66083500000001</c:v>
                </c:pt>
                <c:pt idx="122">
                  <c:v>108.029617</c:v>
                </c:pt>
                <c:pt idx="123">
                  <c:v>111.682098</c:v>
                </c:pt>
                <c:pt idx="124">
                  <c:v>113.73427599999999</c:v>
                </c:pt>
                <c:pt idx="125">
                  <c:v>109.329033</c:v>
                </c:pt>
                <c:pt idx="126">
                  <c:v>107.527252</c:v>
                </c:pt>
                <c:pt idx="127">
                  <c:v>101.562218</c:v>
                </c:pt>
                <c:pt idx="128">
                  <c:v>98.937591999999995</c:v>
                </c:pt>
                <c:pt idx="129">
                  <c:v>97.569809000000006</c:v>
                </c:pt>
                <c:pt idx="130">
                  <c:v>102.72629499999999</c:v>
                </c:pt>
                <c:pt idx="131">
                  <c:v>104.279121</c:v>
                </c:pt>
                <c:pt idx="132">
                  <c:v>95.088333000000006</c:v>
                </c:pt>
                <c:pt idx="133">
                  <c:v>94.705223000000004</c:v>
                </c:pt>
                <c:pt idx="134">
                  <c:v>96.168746999999996</c:v>
                </c:pt>
                <c:pt idx="135">
                  <c:v>86.610862999999995</c:v>
                </c:pt>
                <c:pt idx="136">
                  <c:v>72.72242</c:v>
                </c:pt>
                <c:pt idx="137">
                  <c:v>67.660477</c:v>
                </c:pt>
                <c:pt idx="138">
                  <c:v>67.773132000000004</c:v>
                </c:pt>
                <c:pt idx="139">
                  <c:v>62.712997000000001</c:v>
                </c:pt>
                <c:pt idx="140">
                  <c:v>55.974544999999999</c:v>
                </c:pt>
                <c:pt idx="141">
                  <c:v>60.206901999999999</c:v>
                </c:pt>
                <c:pt idx="142">
                  <c:v>66.661902999999995</c:v>
                </c:pt>
                <c:pt idx="143">
                  <c:v>70.558586000000005</c:v>
                </c:pt>
                <c:pt idx="144">
                  <c:v>70.116264000000001</c:v>
                </c:pt>
                <c:pt idx="145">
                  <c:v>75.772987000000001</c:v>
                </c:pt>
                <c:pt idx="146">
                  <c:v>78.571983000000003</c:v>
                </c:pt>
                <c:pt idx="147">
                  <c:v>80.972260000000006</c:v>
                </c:pt>
                <c:pt idx="148">
                  <c:v>79.793800000000005</c:v>
                </c:pt>
                <c:pt idx="149">
                  <c:v>84.709655999999995</c:v>
                </c:pt>
                <c:pt idx="150">
                  <c:v>85.865409999999997</c:v>
                </c:pt>
                <c:pt idx="151">
                  <c:v>83.190337999999997</c:v>
                </c:pt>
                <c:pt idx="152">
                  <c:v>85.785431000000003</c:v>
                </c:pt>
                <c:pt idx="153">
                  <c:v>90.634765999999999</c:v>
                </c:pt>
                <c:pt idx="154">
                  <c:v>92.415931999999998</c:v>
                </c:pt>
                <c:pt idx="155">
                  <c:v>85.073043999999996</c:v>
                </c:pt>
                <c:pt idx="156">
                  <c:v>80.289283999999995</c:v>
                </c:pt>
                <c:pt idx="157">
                  <c:v>86.181145000000001</c:v>
                </c:pt>
                <c:pt idx="158">
                  <c:v>82.30471</c:v>
                </c:pt>
                <c:pt idx="159">
                  <c:v>89.197945000000004</c:v>
                </c:pt>
                <c:pt idx="160">
                  <c:v>93.101280000000003</c:v>
                </c:pt>
                <c:pt idx="161">
                  <c:v>93.101280000000003</c:v>
                </c:pt>
                <c:pt idx="162">
                  <c:v>98.805672000000001</c:v>
                </c:pt>
                <c:pt idx="163">
                  <c:v>101.63961</c:v>
                </c:pt>
                <c:pt idx="164">
                  <c:v>105.17029599999999</c:v>
                </c:pt>
                <c:pt idx="165">
                  <c:v>104.727982</c:v>
                </c:pt>
                <c:pt idx="166">
                  <c:v>108.229187</c:v>
                </c:pt>
                <c:pt idx="167">
                  <c:v>107.015427</c:v>
                </c:pt>
                <c:pt idx="168">
                  <c:v>104.691101</c:v>
                </c:pt>
                <c:pt idx="169">
                  <c:v>103.105446</c:v>
                </c:pt>
                <c:pt idx="170">
                  <c:v>97.437140999999997</c:v>
                </c:pt>
                <c:pt idx="171">
                  <c:v>90.206314000000006</c:v>
                </c:pt>
                <c:pt idx="172">
                  <c:v>100.569687</c:v>
                </c:pt>
                <c:pt idx="173">
                  <c:v>100.16098</c:v>
                </c:pt>
                <c:pt idx="174">
                  <c:v>100.569687</c:v>
                </c:pt>
                <c:pt idx="175">
                  <c:v>105.900955</c:v>
                </c:pt>
                <c:pt idx="176">
                  <c:v>110.497612</c:v>
                </c:pt>
                <c:pt idx="177">
                  <c:v>113.554016</c:v>
                </c:pt>
                <c:pt idx="178">
                  <c:v>113.290306</c:v>
                </c:pt>
                <c:pt idx="179">
                  <c:v>106.486565</c:v>
                </c:pt>
                <c:pt idx="180">
                  <c:v>110.23670199999999</c:v>
                </c:pt>
                <c:pt idx="181">
                  <c:v>112.11869</c:v>
                </c:pt>
                <c:pt idx="182">
                  <c:v>114.927582</c:v>
                </c:pt>
                <c:pt idx="183">
                  <c:v>117.215355</c:v>
                </c:pt>
                <c:pt idx="184">
                  <c:v>115.696594</c:v>
                </c:pt>
                <c:pt idx="185">
                  <c:v>116.351448</c:v>
                </c:pt>
                <c:pt idx="186">
                  <c:v>116.564232</c:v>
                </c:pt>
                <c:pt idx="187">
                  <c:v>123.400177</c:v>
                </c:pt>
                <c:pt idx="188">
                  <c:v>124.974632</c:v>
                </c:pt>
                <c:pt idx="189">
                  <c:v>129.14563000000001</c:v>
                </c:pt>
                <c:pt idx="190">
                  <c:v>132.21234100000001</c:v>
                </c:pt>
                <c:pt idx="191">
                  <c:v>135.333786</c:v>
                </c:pt>
                <c:pt idx="192">
                  <c:v>132.82501199999999</c:v>
                </c:pt>
                <c:pt idx="193">
                  <c:v>140.42816199999999</c:v>
                </c:pt>
                <c:pt idx="194">
                  <c:v>136.21639999999999</c:v>
                </c:pt>
                <c:pt idx="195">
                  <c:v>139.84545900000001</c:v>
                </c:pt>
                <c:pt idx="196">
                  <c:v>147.03440900000001</c:v>
                </c:pt>
                <c:pt idx="197">
                  <c:v>151.39228800000001</c:v>
                </c:pt>
                <c:pt idx="198">
                  <c:v>154.47865300000001</c:v>
                </c:pt>
                <c:pt idx="199">
                  <c:v>149.84266700000001</c:v>
                </c:pt>
                <c:pt idx="200">
                  <c:v>156.662857</c:v>
                </c:pt>
                <c:pt idx="201">
                  <c:v>157.26835600000001</c:v>
                </c:pt>
                <c:pt idx="202">
                  <c:v>159.06051600000001</c:v>
                </c:pt>
                <c:pt idx="203">
                  <c:v>162.75178500000001</c:v>
                </c:pt>
                <c:pt idx="204">
                  <c:v>165.31961100000001</c:v>
                </c:pt>
                <c:pt idx="205">
                  <c:v>163.87960799999999</c:v>
                </c:pt>
                <c:pt idx="206">
                  <c:v>170.34686300000001</c:v>
                </c:pt>
                <c:pt idx="207">
                  <c:v>167.21507299999999</c:v>
                </c:pt>
                <c:pt idx="208">
                  <c:v>171.95320100000001</c:v>
                </c:pt>
                <c:pt idx="209">
                  <c:v>176.677063</c:v>
                </c:pt>
                <c:pt idx="210">
                  <c:v>175.26164199999999</c:v>
                </c:pt>
                <c:pt idx="211">
                  <c:v>171.007431</c:v>
                </c:pt>
                <c:pt idx="212">
                  <c:v>180.61878999999999</c:v>
                </c:pt>
                <c:pt idx="213">
                  <c:v>176.99203499999999</c:v>
                </c:pt>
                <c:pt idx="214">
                  <c:v>179.53036499999999</c:v>
                </c:pt>
                <c:pt idx="215">
                  <c:v>181.83845500000001</c:v>
                </c:pt>
                <c:pt idx="216">
                  <c:v>177.28256200000001</c:v>
                </c:pt>
                <c:pt idx="217">
                  <c:v>182.169083</c:v>
                </c:pt>
                <c:pt idx="218">
                  <c:v>171.065811</c:v>
                </c:pt>
                <c:pt idx="219">
                  <c:v>165.83879099999999</c:v>
                </c:pt>
                <c:pt idx="220">
                  <c:v>180.880447</c:v>
                </c:pt>
                <c:pt idx="221">
                  <c:v>181.54161099999999</c:v>
                </c:pt>
                <c:pt idx="222">
                  <c:v>177.348602</c:v>
                </c:pt>
                <c:pt idx="223">
                  <c:v>169.52198799999999</c:v>
                </c:pt>
                <c:pt idx="224">
                  <c:v>169.38197299999999</c:v>
                </c:pt>
                <c:pt idx="225">
                  <c:v>179.84802199999999</c:v>
                </c:pt>
                <c:pt idx="226">
                  <c:v>181.48805200000001</c:v>
                </c:pt>
                <c:pt idx="227">
                  <c:v>184.57547</c:v>
                </c:pt>
                <c:pt idx="228">
                  <c:v>184.258835</c:v>
                </c:pt>
                <c:pt idx="229">
                  <c:v>191.97212200000001</c:v>
                </c:pt>
                <c:pt idx="230">
                  <c:v>192.20199600000001</c:v>
                </c:pt>
                <c:pt idx="231">
                  <c:v>191.247086</c:v>
                </c:pt>
                <c:pt idx="232">
                  <c:v>188.880753</c:v>
                </c:pt>
                <c:pt idx="233">
                  <c:v>195.838852</c:v>
                </c:pt>
                <c:pt idx="234">
                  <c:v>198.63801599999999</c:v>
                </c:pt>
                <c:pt idx="235">
                  <c:v>203.384354</c:v>
                </c:pt>
                <c:pt idx="236">
                  <c:v>211.37562600000001</c:v>
                </c:pt>
                <c:pt idx="237">
                  <c:v>210.723083</c:v>
                </c:pt>
                <c:pt idx="238">
                  <c:v>213.740601</c:v>
                </c:pt>
                <c:pt idx="239">
                  <c:v>216.757126</c:v>
                </c:pt>
                <c:pt idx="240">
                  <c:v>217.080353</c:v>
                </c:pt>
                <c:pt idx="241">
                  <c:v>222.62257399999999</c:v>
                </c:pt>
                <c:pt idx="242">
                  <c:v>223.272156</c:v>
                </c:pt>
                <c:pt idx="243">
                  <c:v>226.64614900000001</c:v>
                </c:pt>
                <c:pt idx="244">
                  <c:v>233.138138</c:v>
                </c:pt>
                <c:pt idx="245">
                  <c:v>240.26426699999999</c:v>
                </c:pt>
                <c:pt idx="246">
                  <c:v>241.94154399999999</c:v>
                </c:pt>
                <c:pt idx="247">
                  <c:v>256.88345299999997</c:v>
                </c:pt>
                <c:pt idx="248">
                  <c:v>247.543091</c:v>
                </c:pt>
                <c:pt idx="249">
                  <c:v>239.79736299999999</c:v>
                </c:pt>
                <c:pt idx="250">
                  <c:v>242.00204500000001</c:v>
                </c:pt>
                <c:pt idx="251">
                  <c:v>247.88494900000001</c:v>
                </c:pt>
                <c:pt idx="252">
                  <c:v>248.19596899999999</c:v>
                </c:pt>
                <c:pt idx="253">
                  <c:v>258.54650900000001</c:v>
                </c:pt>
                <c:pt idx="254">
                  <c:v>266.79937699999999</c:v>
                </c:pt>
                <c:pt idx="255">
                  <c:v>267.17620799999997</c:v>
                </c:pt>
                <c:pt idx="256">
                  <c:v>249.83900499999999</c:v>
                </c:pt>
                <c:pt idx="257">
                  <c:v>254.473297</c:v>
                </c:pt>
                <c:pt idx="258">
                  <c:v>230.72001599999999</c:v>
                </c:pt>
                <c:pt idx="259">
                  <c:v>250.647964</c:v>
                </c:pt>
                <c:pt idx="260">
                  <c:v>258.77288800000002</c:v>
                </c:pt>
                <c:pt idx="261">
                  <c:v>262.30154399999998</c:v>
                </c:pt>
                <c:pt idx="262">
                  <c:v>274.21966600000002</c:v>
                </c:pt>
                <c:pt idx="263">
                  <c:v>256.73242199999999</c:v>
                </c:pt>
                <c:pt idx="264">
                  <c:v>273.268372</c:v>
                </c:pt>
                <c:pt idx="265">
                  <c:v>278.74926799999997</c:v>
                </c:pt>
                <c:pt idx="266">
                  <c:v>274.08203099999997</c:v>
                </c:pt>
                <c:pt idx="267">
                  <c:v>278.13070699999997</c:v>
                </c:pt>
                <c:pt idx="268">
                  <c:v>285.59155299999998</c:v>
                </c:pt>
                <c:pt idx="269">
                  <c:v>295.92941300000001</c:v>
                </c:pt>
                <c:pt idx="270">
                  <c:v>303.03790300000003</c:v>
                </c:pt>
                <c:pt idx="271">
                  <c:v>304.40481599999998</c:v>
                </c:pt>
                <c:pt idx="272">
                  <c:v>280.30633499999999</c:v>
                </c:pt>
                <c:pt idx="273">
                  <c:v>243.87013200000001</c:v>
                </c:pt>
                <c:pt idx="274">
                  <c:v>276.45361300000002</c:v>
                </c:pt>
                <c:pt idx="275">
                  <c:v>289.62539700000002</c:v>
                </c:pt>
                <c:pt idx="276">
                  <c:v>293.47036700000001</c:v>
                </c:pt>
                <c:pt idx="277">
                  <c:v>312.12094100000002</c:v>
                </c:pt>
                <c:pt idx="278">
                  <c:v>333.90597500000001</c:v>
                </c:pt>
                <c:pt idx="279">
                  <c:v>320.12188700000002</c:v>
                </c:pt>
                <c:pt idx="280">
                  <c:v>313.38955700000002</c:v>
                </c:pt>
                <c:pt idx="281">
                  <c:v>347.47909499999997</c:v>
                </c:pt>
                <c:pt idx="282">
                  <c:v>358.823059</c:v>
                </c:pt>
                <c:pt idx="283">
                  <c:v>356.68045000000001</c:v>
                </c:pt>
                <c:pt idx="284">
                  <c:v>366.59814499999999</c:v>
                </c:pt>
                <c:pt idx="285">
                  <c:v>381.99035600000002</c:v>
                </c:pt>
                <c:pt idx="286">
                  <c:v>403.51889</c:v>
                </c:pt>
                <c:pt idx="287">
                  <c:v>406.16842700000001</c:v>
                </c:pt>
                <c:pt idx="288">
                  <c:v>413.92361499999998</c:v>
                </c:pt>
                <c:pt idx="289">
                  <c:v>425.41577100000001</c:v>
                </c:pt>
                <c:pt idx="290">
                  <c:v>438.07607999999999</c:v>
                </c:pt>
                <c:pt idx="291">
                  <c:v>416.32553100000001</c:v>
                </c:pt>
                <c:pt idx="292">
                  <c:v>446.96374500000002</c:v>
                </c:pt>
                <c:pt idx="293">
                  <c:v>443.37249800000001</c:v>
                </c:pt>
                <c:pt idx="294">
                  <c:v>462.25347900000003</c:v>
                </c:pt>
                <c:pt idx="295">
                  <c:v>439.41198700000001</c:v>
                </c:pt>
                <c:pt idx="296">
                  <c:v>426.44189499999999</c:v>
                </c:pt>
                <c:pt idx="297">
                  <c:v>441.10168499999997</c:v>
                </c:pt>
                <c:pt idx="298">
                  <c:v>403.63662699999998</c:v>
                </c:pt>
                <c:pt idx="299">
                  <c:v>404.54775999999998</c:v>
                </c:pt>
                <c:pt idx="300">
                  <c:v>369.59204099999999</c:v>
                </c:pt>
                <c:pt idx="301">
                  <c:v>405.37039199999998</c:v>
                </c:pt>
                <c:pt idx="302">
                  <c:v>388.83047499999998</c:v>
                </c:pt>
                <c:pt idx="303">
                  <c:v>351.44103999999999</c:v>
                </c:pt>
                <c:pt idx="304">
                  <c:v>381.56558200000001</c:v>
                </c:pt>
                <c:pt idx="305">
                  <c:v>402.77743500000003</c:v>
                </c:pt>
                <c:pt idx="306">
                  <c:v>377.83102400000001</c:v>
                </c:pt>
                <c:pt idx="307">
                  <c:v>403.43597399999999</c:v>
                </c:pt>
                <c:pt idx="308">
                  <c:v>393.29248000000001</c:v>
                </c:pt>
                <c:pt idx="309">
                  <c:v>406.32418799999999</c:v>
                </c:pt>
                <c:pt idx="310">
                  <c:v>414.39068600000002</c:v>
                </c:pt>
                <c:pt idx="311">
                  <c:v>416.30361900000003</c:v>
                </c:pt>
                <c:pt idx="312">
                  <c:v>441.63949600000001</c:v>
                </c:pt>
                <c:pt idx="313">
                  <c:v>457.790009</c:v>
                </c:pt>
                <c:pt idx="314">
                  <c:v>450.709991</c:v>
                </c:pt>
              </c:numCache>
            </c:numRef>
          </c:val>
          <c:smooth val="0"/>
          <c:extLst>
            <c:ext xmlns:c16="http://schemas.microsoft.com/office/drawing/2014/chart" uri="{C3380CC4-5D6E-409C-BE32-E72D297353CC}">
              <c16:uniqueId val="{00000000-5EE2-9B42-A462-225A45125633}"/>
            </c:ext>
          </c:extLst>
        </c:ser>
        <c:ser>
          <c:idx val="1"/>
          <c:order val="1"/>
          <c:tx>
            <c:strRef>
              <c:f>Sheet2!$C$2</c:f>
              <c:strCache>
                <c:ptCount val="1"/>
                <c:pt idx="0">
                  <c:v>AMZN</c:v>
                </c:pt>
              </c:strCache>
            </c:strRef>
          </c:tx>
          <c:spPr>
            <a:ln w="28575" cap="rnd">
              <a:solidFill>
                <a:schemeClr val="accent2"/>
              </a:solidFill>
              <a:round/>
            </a:ln>
            <a:effectLst/>
          </c:spPr>
          <c:marker>
            <c:symbol val="none"/>
          </c:marker>
          <c:cat>
            <c:numRef>
              <c:f>Sheet2!$A$3:$A$317</c:f>
              <c:numCache>
                <c:formatCode>m/d/yy</c:formatCode>
                <c:ptCount val="315"/>
                <c:pt idx="0">
                  <c:v>35582</c:v>
                </c:pt>
                <c:pt idx="1">
                  <c:v>35612</c:v>
                </c:pt>
                <c:pt idx="2">
                  <c:v>35643</c:v>
                </c:pt>
                <c:pt idx="3">
                  <c:v>35674</c:v>
                </c:pt>
                <c:pt idx="4">
                  <c:v>35704</c:v>
                </c:pt>
                <c:pt idx="5">
                  <c:v>35735</c:v>
                </c:pt>
                <c:pt idx="6">
                  <c:v>35765</c:v>
                </c:pt>
                <c:pt idx="7">
                  <c:v>35796</c:v>
                </c:pt>
                <c:pt idx="8">
                  <c:v>35827</c:v>
                </c:pt>
                <c:pt idx="9">
                  <c:v>35855</c:v>
                </c:pt>
                <c:pt idx="10">
                  <c:v>35886</c:v>
                </c:pt>
                <c:pt idx="11">
                  <c:v>35916</c:v>
                </c:pt>
                <c:pt idx="12">
                  <c:v>35947</c:v>
                </c:pt>
                <c:pt idx="13">
                  <c:v>35977</c:v>
                </c:pt>
                <c:pt idx="14">
                  <c:v>36008</c:v>
                </c:pt>
                <c:pt idx="15">
                  <c:v>36039</c:v>
                </c:pt>
                <c:pt idx="16">
                  <c:v>36069</c:v>
                </c:pt>
                <c:pt idx="17">
                  <c:v>36100</c:v>
                </c:pt>
                <c:pt idx="18">
                  <c:v>36130</c:v>
                </c:pt>
                <c:pt idx="19">
                  <c:v>36161</c:v>
                </c:pt>
                <c:pt idx="20">
                  <c:v>36192</c:v>
                </c:pt>
                <c:pt idx="21">
                  <c:v>36220</c:v>
                </c:pt>
                <c:pt idx="22">
                  <c:v>36251</c:v>
                </c:pt>
                <c:pt idx="23">
                  <c:v>36281</c:v>
                </c:pt>
                <c:pt idx="24">
                  <c:v>36312</c:v>
                </c:pt>
                <c:pt idx="25">
                  <c:v>36342</c:v>
                </c:pt>
                <c:pt idx="26">
                  <c:v>36373</c:v>
                </c:pt>
                <c:pt idx="27">
                  <c:v>36404</c:v>
                </c:pt>
                <c:pt idx="28">
                  <c:v>36434</c:v>
                </c:pt>
                <c:pt idx="29">
                  <c:v>36465</c:v>
                </c:pt>
                <c:pt idx="30">
                  <c:v>36495</c:v>
                </c:pt>
                <c:pt idx="31">
                  <c:v>36526</c:v>
                </c:pt>
                <c:pt idx="32">
                  <c:v>36557</c:v>
                </c:pt>
                <c:pt idx="33">
                  <c:v>36586</c:v>
                </c:pt>
                <c:pt idx="34">
                  <c:v>36617</c:v>
                </c:pt>
                <c:pt idx="35">
                  <c:v>36647</c:v>
                </c:pt>
                <c:pt idx="36">
                  <c:v>36678</c:v>
                </c:pt>
                <c:pt idx="37">
                  <c:v>36708</c:v>
                </c:pt>
                <c:pt idx="38">
                  <c:v>36739</c:v>
                </c:pt>
                <c:pt idx="39">
                  <c:v>36770</c:v>
                </c:pt>
                <c:pt idx="40">
                  <c:v>36800</c:v>
                </c:pt>
                <c:pt idx="41">
                  <c:v>36831</c:v>
                </c:pt>
                <c:pt idx="42">
                  <c:v>36861</c:v>
                </c:pt>
                <c:pt idx="43">
                  <c:v>36892</c:v>
                </c:pt>
                <c:pt idx="44">
                  <c:v>36923</c:v>
                </c:pt>
                <c:pt idx="45">
                  <c:v>36951</c:v>
                </c:pt>
                <c:pt idx="46">
                  <c:v>36982</c:v>
                </c:pt>
                <c:pt idx="47">
                  <c:v>37012</c:v>
                </c:pt>
                <c:pt idx="48">
                  <c:v>37043</c:v>
                </c:pt>
                <c:pt idx="49">
                  <c:v>37073</c:v>
                </c:pt>
                <c:pt idx="50">
                  <c:v>37104</c:v>
                </c:pt>
                <c:pt idx="51">
                  <c:v>37135</c:v>
                </c:pt>
                <c:pt idx="52">
                  <c:v>37165</c:v>
                </c:pt>
                <c:pt idx="53">
                  <c:v>37196</c:v>
                </c:pt>
                <c:pt idx="54">
                  <c:v>37226</c:v>
                </c:pt>
                <c:pt idx="55">
                  <c:v>37257</c:v>
                </c:pt>
                <c:pt idx="56">
                  <c:v>37288</c:v>
                </c:pt>
                <c:pt idx="57">
                  <c:v>37316</c:v>
                </c:pt>
                <c:pt idx="58">
                  <c:v>37347</c:v>
                </c:pt>
                <c:pt idx="59">
                  <c:v>37377</c:v>
                </c:pt>
                <c:pt idx="60">
                  <c:v>37408</c:v>
                </c:pt>
                <c:pt idx="61">
                  <c:v>37438</c:v>
                </c:pt>
                <c:pt idx="62">
                  <c:v>37469</c:v>
                </c:pt>
                <c:pt idx="63">
                  <c:v>37500</c:v>
                </c:pt>
                <c:pt idx="64">
                  <c:v>37530</c:v>
                </c:pt>
                <c:pt idx="65">
                  <c:v>37561</c:v>
                </c:pt>
                <c:pt idx="66">
                  <c:v>37591</c:v>
                </c:pt>
                <c:pt idx="67">
                  <c:v>37622</c:v>
                </c:pt>
                <c:pt idx="68">
                  <c:v>37653</c:v>
                </c:pt>
                <c:pt idx="69">
                  <c:v>37681</c:v>
                </c:pt>
                <c:pt idx="70">
                  <c:v>37712</c:v>
                </c:pt>
                <c:pt idx="71">
                  <c:v>37742</c:v>
                </c:pt>
                <c:pt idx="72">
                  <c:v>37773</c:v>
                </c:pt>
                <c:pt idx="73">
                  <c:v>37803</c:v>
                </c:pt>
                <c:pt idx="74">
                  <c:v>37834</c:v>
                </c:pt>
                <c:pt idx="75">
                  <c:v>37865</c:v>
                </c:pt>
                <c:pt idx="76">
                  <c:v>37895</c:v>
                </c:pt>
                <c:pt idx="77">
                  <c:v>37926</c:v>
                </c:pt>
                <c:pt idx="78">
                  <c:v>37956</c:v>
                </c:pt>
                <c:pt idx="79">
                  <c:v>37987</c:v>
                </c:pt>
                <c:pt idx="80">
                  <c:v>38018</c:v>
                </c:pt>
                <c:pt idx="81">
                  <c:v>38047</c:v>
                </c:pt>
                <c:pt idx="82">
                  <c:v>38078</c:v>
                </c:pt>
                <c:pt idx="83">
                  <c:v>38108</c:v>
                </c:pt>
                <c:pt idx="84">
                  <c:v>38139</c:v>
                </c:pt>
                <c:pt idx="85">
                  <c:v>38169</c:v>
                </c:pt>
                <c:pt idx="86">
                  <c:v>38200</c:v>
                </c:pt>
                <c:pt idx="87">
                  <c:v>38231</c:v>
                </c:pt>
                <c:pt idx="88">
                  <c:v>38261</c:v>
                </c:pt>
                <c:pt idx="89">
                  <c:v>38292</c:v>
                </c:pt>
                <c:pt idx="90">
                  <c:v>38322</c:v>
                </c:pt>
                <c:pt idx="91">
                  <c:v>38353</c:v>
                </c:pt>
                <c:pt idx="92">
                  <c:v>38384</c:v>
                </c:pt>
                <c:pt idx="93">
                  <c:v>38412</c:v>
                </c:pt>
                <c:pt idx="94">
                  <c:v>38443</c:v>
                </c:pt>
                <c:pt idx="95">
                  <c:v>38473</c:v>
                </c:pt>
                <c:pt idx="96">
                  <c:v>38504</c:v>
                </c:pt>
                <c:pt idx="97">
                  <c:v>38534</c:v>
                </c:pt>
                <c:pt idx="98">
                  <c:v>38565</c:v>
                </c:pt>
                <c:pt idx="99">
                  <c:v>38596</c:v>
                </c:pt>
                <c:pt idx="100">
                  <c:v>38626</c:v>
                </c:pt>
                <c:pt idx="101">
                  <c:v>38657</c:v>
                </c:pt>
                <c:pt idx="102">
                  <c:v>38687</c:v>
                </c:pt>
                <c:pt idx="103">
                  <c:v>38718</c:v>
                </c:pt>
                <c:pt idx="104">
                  <c:v>38749</c:v>
                </c:pt>
                <c:pt idx="105">
                  <c:v>38777</c:v>
                </c:pt>
                <c:pt idx="106">
                  <c:v>38808</c:v>
                </c:pt>
                <c:pt idx="107">
                  <c:v>38838</c:v>
                </c:pt>
                <c:pt idx="108">
                  <c:v>38869</c:v>
                </c:pt>
                <c:pt idx="109">
                  <c:v>38899</c:v>
                </c:pt>
                <c:pt idx="110">
                  <c:v>38930</c:v>
                </c:pt>
                <c:pt idx="111">
                  <c:v>38961</c:v>
                </c:pt>
                <c:pt idx="112">
                  <c:v>38991</c:v>
                </c:pt>
                <c:pt idx="113">
                  <c:v>39022</c:v>
                </c:pt>
                <c:pt idx="114">
                  <c:v>39052</c:v>
                </c:pt>
                <c:pt idx="115">
                  <c:v>39083</c:v>
                </c:pt>
                <c:pt idx="116">
                  <c:v>39114</c:v>
                </c:pt>
                <c:pt idx="117">
                  <c:v>39142</c:v>
                </c:pt>
                <c:pt idx="118">
                  <c:v>39173</c:v>
                </c:pt>
                <c:pt idx="119">
                  <c:v>39203</c:v>
                </c:pt>
                <c:pt idx="120">
                  <c:v>39234</c:v>
                </c:pt>
                <c:pt idx="121">
                  <c:v>39264</c:v>
                </c:pt>
                <c:pt idx="122">
                  <c:v>39295</c:v>
                </c:pt>
                <c:pt idx="123">
                  <c:v>39326</c:v>
                </c:pt>
                <c:pt idx="124">
                  <c:v>39356</c:v>
                </c:pt>
                <c:pt idx="125">
                  <c:v>39387</c:v>
                </c:pt>
                <c:pt idx="126">
                  <c:v>39417</c:v>
                </c:pt>
                <c:pt idx="127">
                  <c:v>39448</c:v>
                </c:pt>
                <c:pt idx="128">
                  <c:v>39479</c:v>
                </c:pt>
                <c:pt idx="129">
                  <c:v>39508</c:v>
                </c:pt>
                <c:pt idx="130">
                  <c:v>39539</c:v>
                </c:pt>
                <c:pt idx="131">
                  <c:v>39569</c:v>
                </c:pt>
                <c:pt idx="132">
                  <c:v>39600</c:v>
                </c:pt>
                <c:pt idx="133">
                  <c:v>39630</c:v>
                </c:pt>
                <c:pt idx="134">
                  <c:v>39661</c:v>
                </c:pt>
                <c:pt idx="135">
                  <c:v>39692</c:v>
                </c:pt>
                <c:pt idx="136">
                  <c:v>39722</c:v>
                </c:pt>
                <c:pt idx="137">
                  <c:v>39753</c:v>
                </c:pt>
                <c:pt idx="138">
                  <c:v>39783</c:v>
                </c:pt>
                <c:pt idx="139">
                  <c:v>39814</c:v>
                </c:pt>
                <c:pt idx="140">
                  <c:v>39845</c:v>
                </c:pt>
                <c:pt idx="141">
                  <c:v>39873</c:v>
                </c:pt>
                <c:pt idx="142">
                  <c:v>39904</c:v>
                </c:pt>
                <c:pt idx="143">
                  <c:v>39934</c:v>
                </c:pt>
                <c:pt idx="144">
                  <c:v>39965</c:v>
                </c:pt>
                <c:pt idx="145">
                  <c:v>39995</c:v>
                </c:pt>
                <c:pt idx="146">
                  <c:v>40026</c:v>
                </c:pt>
                <c:pt idx="147">
                  <c:v>40057</c:v>
                </c:pt>
                <c:pt idx="148">
                  <c:v>40087</c:v>
                </c:pt>
                <c:pt idx="149">
                  <c:v>40118</c:v>
                </c:pt>
                <c:pt idx="150">
                  <c:v>40148</c:v>
                </c:pt>
                <c:pt idx="151">
                  <c:v>40179</c:v>
                </c:pt>
                <c:pt idx="152">
                  <c:v>40210</c:v>
                </c:pt>
                <c:pt idx="153">
                  <c:v>40238</c:v>
                </c:pt>
                <c:pt idx="154">
                  <c:v>40269</c:v>
                </c:pt>
                <c:pt idx="155">
                  <c:v>40299</c:v>
                </c:pt>
                <c:pt idx="156">
                  <c:v>40330</c:v>
                </c:pt>
                <c:pt idx="157">
                  <c:v>40360</c:v>
                </c:pt>
                <c:pt idx="158">
                  <c:v>40391</c:v>
                </c:pt>
                <c:pt idx="159">
                  <c:v>40422</c:v>
                </c:pt>
                <c:pt idx="160">
                  <c:v>40452</c:v>
                </c:pt>
                <c:pt idx="161">
                  <c:v>40483</c:v>
                </c:pt>
                <c:pt idx="162">
                  <c:v>40513</c:v>
                </c:pt>
                <c:pt idx="163">
                  <c:v>40544</c:v>
                </c:pt>
                <c:pt idx="164">
                  <c:v>40575</c:v>
                </c:pt>
                <c:pt idx="165">
                  <c:v>40603</c:v>
                </c:pt>
                <c:pt idx="166">
                  <c:v>40634</c:v>
                </c:pt>
                <c:pt idx="167">
                  <c:v>40664</c:v>
                </c:pt>
                <c:pt idx="168">
                  <c:v>40695</c:v>
                </c:pt>
                <c:pt idx="169">
                  <c:v>40725</c:v>
                </c:pt>
                <c:pt idx="170">
                  <c:v>40756</c:v>
                </c:pt>
                <c:pt idx="171">
                  <c:v>40787</c:v>
                </c:pt>
                <c:pt idx="172">
                  <c:v>40817</c:v>
                </c:pt>
                <c:pt idx="173">
                  <c:v>40848</c:v>
                </c:pt>
                <c:pt idx="174">
                  <c:v>40878</c:v>
                </c:pt>
                <c:pt idx="175">
                  <c:v>40909</c:v>
                </c:pt>
                <c:pt idx="176">
                  <c:v>40940</c:v>
                </c:pt>
                <c:pt idx="177">
                  <c:v>40969</c:v>
                </c:pt>
                <c:pt idx="178">
                  <c:v>41000</c:v>
                </c:pt>
                <c:pt idx="179">
                  <c:v>41030</c:v>
                </c:pt>
                <c:pt idx="180">
                  <c:v>41061</c:v>
                </c:pt>
                <c:pt idx="181">
                  <c:v>41091</c:v>
                </c:pt>
                <c:pt idx="182">
                  <c:v>41122</c:v>
                </c:pt>
                <c:pt idx="183">
                  <c:v>41153</c:v>
                </c:pt>
                <c:pt idx="184">
                  <c:v>41183</c:v>
                </c:pt>
                <c:pt idx="185">
                  <c:v>41214</c:v>
                </c:pt>
                <c:pt idx="186">
                  <c:v>41244</c:v>
                </c:pt>
                <c:pt idx="187">
                  <c:v>41275</c:v>
                </c:pt>
                <c:pt idx="188">
                  <c:v>41306</c:v>
                </c:pt>
                <c:pt idx="189">
                  <c:v>41334</c:v>
                </c:pt>
                <c:pt idx="190">
                  <c:v>41365</c:v>
                </c:pt>
                <c:pt idx="191">
                  <c:v>41395</c:v>
                </c:pt>
                <c:pt idx="192">
                  <c:v>41426</c:v>
                </c:pt>
                <c:pt idx="193">
                  <c:v>41456</c:v>
                </c:pt>
                <c:pt idx="194">
                  <c:v>41487</c:v>
                </c:pt>
                <c:pt idx="195">
                  <c:v>41518</c:v>
                </c:pt>
                <c:pt idx="196">
                  <c:v>41548</c:v>
                </c:pt>
                <c:pt idx="197">
                  <c:v>41579</c:v>
                </c:pt>
                <c:pt idx="198">
                  <c:v>41609</c:v>
                </c:pt>
                <c:pt idx="199">
                  <c:v>41640</c:v>
                </c:pt>
                <c:pt idx="200">
                  <c:v>41671</c:v>
                </c:pt>
                <c:pt idx="201">
                  <c:v>41699</c:v>
                </c:pt>
                <c:pt idx="202">
                  <c:v>41730</c:v>
                </c:pt>
                <c:pt idx="203">
                  <c:v>41760</c:v>
                </c:pt>
                <c:pt idx="204">
                  <c:v>41791</c:v>
                </c:pt>
                <c:pt idx="205">
                  <c:v>41821</c:v>
                </c:pt>
                <c:pt idx="206">
                  <c:v>41852</c:v>
                </c:pt>
                <c:pt idx="207">
                  <c:v>41883</c:v>
                </c:pt>
                <c:pt idx="208">
                  <c:v>41913</c:v>
                </c:pt>
                <c:pt idx="209">
                  <c:v>41944</c:v>
                </c:pt>
                <c:pt idx="210">
                  <c:v>41974</c:v>
                </c:pt>
                <c:pt idx="211">
                  <c:v>42005</c:v>
                </c:pt>
                <c:pt idx="212">
                  <c:v>42036</c:v>
                </c:pt>
                <c:pt idx="213">
                  <c:v>42064</c:v>
                </c:pt>
                <c:pt idx="214">
                  <c:v>42095</c:v>
                </c:pt>
                <c:pt idx="215">
                  <c:v>42125</c:v>
                </c:pt>
                <c:pt idx="216">
                  <c:v>42156</c:v>
                </c:pt>
                <c:pt idx="217">
                  <c:v>42186</c:v>
                </c:pt>
                <c:pt idx="218">
                  <c:v>42217</c:v>
                </c:pt>
                <c:pt idx="219">
                  <c:v>42248</c:v>
                </c:pt>
                <c:pt idx="220">
                  <c:v>42278</c:v>
                </c:pt>
                <c:pt idx="221">
                  <c:v>42309</c:v>
                </c:pt>
                <c:pt idx="222">
                  <c:v>42339</c:v>
                </c:pt>
                <c:pt idx="223">
                  <c:v>42370</c:v>
                </c:pt>
                <c:pt idx="224">
                  <c:v>42401</c:v>
                </c:pt>
                <c:pt idx="225">
                  <c:v>42430</c:v>
                </c:pt>
                <c:pt idx="226">
                  <c:v>42461</c:v>
                </c:pt>
                <c:pt idx="227">
                  <c:v>42491</c:v>
                </c:pt>
                <c:pt idx="228">
                  <c:v>42522</c:v>
                </c:pt>
                <c:pt idx="229">
                  <c:v>42552</c:v>
                </c:pt>
                <c:pt idx="230">
                  <c:v>42583</c:v>
                </c:pt>
                <c:pt idx="231">
                  <c:v>42614</c:v>
                </c:pt>
                <c:pt idx="232">
                  <c:v>42644</c:v>
                </c:pt>
                <c:pt idx="233">
                  <c:v>42675</c:v>
                </c:pt>
                <c:pt idx="234">
                  <c:v>42705</c:v>
                </c:pt>
                <c:pt idx="235">
                  <c:v>42736</c:v>
                </c:pt>
                <c:pt idx="236">
                  <c:v>42767</c:v>
                </c:pt>
                <c:pt idx="237">
                  <c:v>42795</c:v>
                </c:pt>
                <c:pt idx="238">
                  <c:v>42826</c:v>
                </c:pt>
                <c:pt idx="239">
                  <c:v>42856</c:v>
                </c:pt>
                <c:pt idx="240">
                  <c:v>42887</c:v>
                </c:pt>
                <c:pt idx="241">
                  <c:v>42917</c:v>
                </c:pt>
                <c:pt idx="242">
                  <c:v>42948</c:v>
                </c:pt>
                <c:pt idx="243">
                  <c:v>42979</c:v>
                </c:pt>
                <c:pt idx="244">
                  <c:v>43009</c:v>
                </c:pt>
                <c:pt idx="245">
                  <c:v>43040</c:v>
                </c:pt>
                <c:pt idx="246">
                  <c:v>43070</c:v>
                </c:pt>
                <c:pt idx="247">
                  <c:v>43101</c:v>
                </c:pt>
                <c:pt idx="248">
                  <c:v>43132</c:v>
                </c:pt>
                <c:pt idx="249">
                  <c:v>43160</c:v>
                </c:pt>
                <c:pt idx="250">
                  <c:v>43191</c:v>
                </c:pt>
                <c:pt idx="251">
                  <c:v>43221</c:v>
                </c:pt>
                <c:pt idx="252">
                  <c:v>43252</c:v>
                </c:pt>
                <c:pt idx="253">
                  <c:v>43282</c:v>
                </c:pt>
                <c:pt idx="254">
                  <c:v>43313</c:v>
                </c:pt>
                <c:pt idx="255">
                  <c:v>43344</c:v>
                </c:pt>
                <c:pt idx="256">
                  <c:v>43374</c:v>
                </c:pt>
                <c:pt idx="257">
                  <c:v>43405</c:v>
                </c:pt>
                <c:pt idx="258">
                  <c:v>43435</c:v>
                </c:pt>
                <c:pt idx="259">
                  <c:v>43466</c:v>
                </c:pt>
                <c:pt idx="260">
                  <c:v>43497</c:v>
                </c:pt>
                <c:pt idx="261">
                  <c:v>43525</c:v>
                </c:pt>
                <c:pt idx="262">
                  <c:v>43556</c:v>
                </c:pt>
                <c:pt idx="263">
                  <c:v>43586</c:v>
                </c:pt>
                <c:pt idx="264">
                  <c:v>43617</c:v>
                </c:pt>
                <c:pt idx="265">
                  <c:v>43647</c:v>
                </c:pt>
                <c:pt idx="266">
                  <c:v>43678</c:v>
                </c:pt>
                <c:pt idx="267">
                  <c:v>43709</c:v>
                </c:pt>
                <c:pt idx="268">
                  <c:v>43739</c:v>
                </c:pt>
                <c:pt idx="269">
                  <c:v>43770</c:v>
                </c:pt>
                <c:pt idx="270">
                  <c:v>43800</c:v>
                </c:pt>
                <c:pt idx="271">
                  <c:v>43831</c:v>
                </c:pt>
                <c:pt idx="272">
                  <c:v>43862</c:v>
                </c:pt>
                <c:pt idx="273">
                  <c:v>43891</c:v>
                </c:pt>
                <c:pt idx="274">
                  <c:v>43922</c:v>
                </c:pt>
                <c:pt idx="275">
                  <c:v>43952</c:v>
                </c:pt>
                <c:pt idx="276">
                  <c:v>43983</c:v>
                </c:pt>
                <c:pt idx="277">
                  <c:v>44013</c:v>
                </c:pt>
                <c:pt idx="278">
                  <c:v>44044</c:v>
                </c:pt>
                <c:pt idx="279">
                  <c:v>44075</c:v>
                </c:pt>
                <c:pt idx="280">
                  <c:v>44105</c:v>
                </c:pt>
                <c:pt idx="281">
                  <c:v>44136</c:v>
                </c:pt>
                <c:pt idx="282">
                  <c:v>44166</c:v>
                </c:pt>
                <c:pt idx="283">
                  <c:v>44197</c:v>
                </c:pt>
                <c:pt idx="284">
                  <c:v>44228</c:v>
                </c:pt>
                <c:pt idx="285">
                  <c:v>44256</c:v>
                </c:pt>
                <c:pt idx="286">
                  <c:v>44287</c:v>
                </c:pt>
                <c:pt idx="287">
                  <c:v>44317</c:v>
                </c:pt>
                <c:pt idx="288">
                  <c:v>44348</c:v>
                </c:pt>
                <c:pt idx="289">
                  <c:v>44378</c:v>
                </c:pt>
                <c:pt idx="290">
                  <c:v>44409</c:v>
                </c:pt>
                <c:pt idx="291">
                  <c:v>44440</c:v>
                </c:pt>
                <c:pt idx="292">
                  <c:v>44470</c:v>
                </c:pt>
                <c:pt idx="293">
                  <c:v>44501</c:v>
                </c:pt>
                <c:pt idx="294">
                  <c:v>44531</c:v>
                </c:pt>
                <c:pt idx="295">
                  <c:v>44562</c:v>
                </c:pt>
                <c:pt idx="296">
                  <c:v>44593</c:v>
                </c:pt>
                <c:pt idx="297">
                  <c:v>44621</c:v>
                </c:pt>
                <c:pt idx="298">
                  <c:v>44652</c:v>
                </c:pt>
                <c:pt idx="299">
                  <c:v>44682</c:v>
                </c:pt>
                <c:pt idx="300">
                  <c:v>44713</c:v>
                </c:pt>
                <c:pt idx="301">
                  <c:v>44743</c:v>
                </c:pt>
                <c:pt idx="302">
                  <c:v>44774</c:v>
                </c:pt>
                <c:pt idx="303">
                  <c:v>44805</c:v>
                </c:pt>
                <c:pt idx="304">
                  <c:v>44835</c:v>
                </c:pt>
                <c:pt idx="305">
                  <c:v>44866</c:v>
                </c:pt>
                <c:pt idx="306">
                  <c:v>44896</c:v>
                </c:pt>
                <c:pt idx="307">
                  <c:v>44927</c:v>
                </c:pt>
                <c:pt idx="308">
                  <c:v>44958</c:v>
                </c:pt>
                <c:pt idx="309">
                  <c:v>44986</c:v>
                </c:pt>
                <c:pt idx="310">
                  <c:v>45017</c:v>
                </c:pt>
                <c:pt idx="311">
                  <c:v>45047</c:v>
                </c:pt>
                <c:pt idx="312">
                  <c:v>45078</c:v>
                </c:pt>
                <c:pt idx="313">
                  <c:v>45108</c:v>
                </c:pt>
                <c:pt idx="314">
                  <c:v>45139</c:v>
                </c:pt>
              </c:numCache>
            </c:numRef>
          </c:cat>
          <c:val>
            <c:numRef>
              <c:f>Sheet2!$C$3:$C$317</c:f>
              <c:numCache>
                <c:formatCode>General</c:formatCode>
                <c:ptCount val="315"/>
                <c:pt idx="0">
                  <c:v>7.7082999999999999E-2</c:v>
                </c:pt>
                <c:pt idx="1">
                  <c:v>0.119792</c:v>
                </c:pt>
                <c:pt idx="2">
                  <c:v>0.116927</c:v>
                </c:pt>
                <c:pt idx="3">
                  <c:v>0.21692700000000001</c:v>
                </c:pt>
                <c:pt idx="4">
                  <c:v>0.25416699999999998</c:v>
                </c:pt>
                <c:pt idx="5">
                  <c:v>0.20624999999999999</c:v>
                </c:pt>
                <c:pt idx="6">
                  <c:v>0.25104199999999999</c:v>
                </c:pt>
                <c:pt idx="7">
                  <c:v>0.245833</c:v>
                </c:pt>
                <c:pt idx="8">
                  <c:v>0.32083299999999998</c:v>
                </c:pt>
                <c:pt idx="9">
                  <c:v>0.35637999999999997</c:v>
                </c:pt>
                <c:pt idx="10">
                  <c:v>0.38229200000000002</c:v>
                </c:pt>
                <c:pt idx="11">
                  <c:v>0.36718800000000001</c:v>
                </c:pt>
                <c:pt idx="12">
                  <c:v>0.83125000000000004</c:v>
                </c:pt>
                <c:pt idx="13">
                  <c:v>0.92395799999999995</c:v>
                </c:pt>
                <c:pt idx="14">
                  <c:v>0.69791700000000001</c:v>
                </c:pt>
                <c:pt idx="15">
                  <c:v>0.93020800000000003</c:v>
                </c:pt>
                <c:pt idx="16">
                  <c:v>1.0536460000000001</c:v>
                </c:pt>
                <c:pt idx="17">
                  <c:v>1.6</c:v>
                </c:pt>
                <c:pt idx="18">
                  <c:v>2.6770830000000001</c:v>
                </c:pt>
                <c:pt idx="19">
                  <c:v>2.923438</c:v>
                </c:pt>
                <c:pt idx="20">
                  <c:v>3.203125</c:v>
                </c:pt>
                <c:pt idx="21">
                  <c:v>4.3046879999999996</c:v>
                </c:pt>
                <c:pt idx="22">
                  <c:v>4.3015629999999998</c:v>
                </c:pt>
                <c:pt idx="23">
                  <c:v>2.96875</c:v>
                </c:pt>
                <c:pt idx="24">
                  <c:v>3.1281249999999998</c:v>
                </c:pt>
                <c:pt idx="25">
                  <c:v>2.501563</c:v>
                </c:pt>
                <c:pt idx="26">
                  <c:v>3.109375</c:v>
                </c:pt>
                <c:pt idx="27">
                  <c:v>3.9968750000000002</c:v>
                </c:pt>
                <c:pt idx="28">
                  <c:v>3.53125</c:v>
                </c:pt>
                <c:pt idx="29">
                  <c:v>4.2531249999999998</c:v>
                </c:pt>
                <c:pt idx="30">
                  <c:v>3.8062499999999999</c:v>
                </c:pt>
                <c:pt idx="31">
                  <c:v>3.2281249999999999</c:v>
                </c:pt>
                <c:pt idx="32">
                  <c:v>3.4437500000000001</c:v>
                </c:pt>
                <c:pt idx="33">
                  <c:v>3.35</c:v>
                </c:pt>
                <c:pt idx="34">
                  <c:v>2.7593749999999999</c:v>
                </c:pt>
                <c:pt idx="35">
                  <c:v>2.4156249999999999</c:v>
                </c:pt>
                <c:pt idx="36">
                  <c:v>1.815625</c:v>
                </c:pt>
                <c:pt idx="37">
                  <c:v>1.5062500000000001</c:v>
                </c:pt>
                <c:pt idx="38">
                  <c:v>2.0750000000000002</c:v>
                </c:pt>
                <c:pt idx="39">
                  <c:v>1.921875</c:v>
                </c:pt>
                <c:pt idx="40">
                  <c:v>1.83125</c:v>
                </c:pt>
                <c:pt idx="41">
                  <c:v>1.234375</c:v>
                </c:pt>
                <c:pt idx="42">
                  <c:v>0.77812499999999996</c:v>
                </c:pt>
                <c:pt idx="43">
                  <c:v>0.86562499999999998</c:v>
                </c:pt>
                <c:pt idx="44">
                  <c:v>0.50937500000000002</c:v>
                </c:pt>
                <c:pt idx="45">
                  <c:v>0.51149999999999995</c:v>
                </c:pt>
                <c:pt idx="46">
                  <c:v>0.78900000000000003</c:v>
                </c:pt>
                <c:pt idx="47">
                  <c:v>0.83450000000000002</c:v>
                </c:pt>
                <c:pt idx="48">
                  <c:v>0.70750000000000002</c:v>
                </c:pt>
                <c:pt idx="49">
                  <c:v>0.62450000000000006</c:v>
                </c:pt>
                <c:pt idx="50">
                  <c:v>0.44700000000000001</c:v>
                </c:pt>
                <c:pt idx="51">
                  <c:v>0.29849999999999999</c:v>
                </c:pt>
                <c:pt idx="52">
                  <c:v>0.34899999999999998</c:v>
                </c:pt>
                <c:pt idx="53">
                  <c:v>0.56599999999999995</c:v>
                </c:pt>
                <c:pt idx="54">
                  <c:v>0.54100000000000004</c:v>
                </c:pt>
                <c:pt idx="55">
                  <c:v>0.70950000000000002</c:v>
                </c:pt>
                <c:pt idx="56">
                  <c:v>0.70499999999999996</c:v>
                </c:pt>
                <c:pt idx="57">
                  <c:v>0.71499999999999997</c:v>
                </c:pt>
                <c:pt idx="58">
                  <c:v>0.83450000000000002</c:v>
                </c:pt>
                <c:pt idx="59">
                  <c:v>0.91149999999999998</c:v>
                </c:pt>
                <c:pt idx="60">
                  <c:v>0.8125</c:v>
                </c:pt>
                <c:pt idx="61">
                  <c:v>0.72250000000000003</c:v>
                </c:pt>
                <c:pt idx="62">
                  <c:v>0.747</c:v>
                </c:pt>
                <c:pt idx="63">
                  <c:v>0.79649999999999999</c:v>
                </c:pt>
                <c:pt idx="64">
                  <c:v>0.96799999999999997</c:v>
                </c:pt>
                <c:pt idx="65">
                  <c:v>1.1675</c:v>
                </c:pt>
                <c:pt idx="66">
                  <c:v>0.94450000000000001</c:v>
                </c:pt>
                <c:pt idx="67">
                  <c:v>1.0925</c:v>
                </c:pt>
                <c:pt idx="68">
                  <c:v>1.1005</c:v>
                </c:pt>
                <c:pt idx="69">
                  <c:v>1.3015000000000001</c:v>
                </c:pt>
                <c:pt idx="70">
                  <c:v>1.4345000000000001</c:v>
                </c:pt>
                <c:pt idx="71">
                  <c:v>1.7945</c:v>
                </c:pt>
                <c:pt idx="72">
                  <c:v>1.8160000000000001</c:v>
                </c:pt>
                <c:pt idx="73">
                  <c:v>2.0819999999999999</c:v>
                </c:pt>
                <c:pt idx="74">
                  <c:v>2.3159999999999998</c:v>
                </c:pt>
                <c:pt idx="75">
                  <c:v>2.4215</c:v>
                </c:pt>
                <c:pt idx="76">
                  <c:v>2.7214999999999998</c:v>
                </c:pt>
                <c:pt idx="77">
                  <c:v>2.6985000000000001</c:v>
                </c:pt>
                <c:pt idx="78">
                  <c:v>2.6309999999999998</c:v>
                </c:pt>
                <c:pt idx="79">
                  <c:v>2.52</c:v>
                </c:pt>
                <c:pt idx="80">
                  <c:v>2.1505000000000001</c:v>
                </c:pt>
                <c:pt idx="81">
                  <c:v>2.1640000000000001</c:v>
                </c:pt>
                <c:pt idx="82">
                  <c:v>2.1800000000000002</c:v>
                </c:pt>
                <c:pt idx="83">
                  <c:v>2.4249999999999998</c:v>
                </c:pt>
                <c:pt idx="84">
                  <c:v>2.72</c:v>
                </c:pt>
                <c:pt idx="85">
                  <c:v>1.946</c:v>
                </c:pt>
                <c:pt idx="86">
                  <c:v>1.907</c:v>
                </c:pt>
                <c:pt idx="87">
                  <c:v>2.0430000000000001</c:v>
                </c:pt>
                <c:pt idx="88">
                  <c:v>1.7064999999999999</c:v>
                </c:pt>
                <c:pt idx="89">
                  <c:v>1.984</c:v>
                </c:pt>
                <c:pt idx="90">
                  <c:v>2.2145000000000001</c:v>
                </c:pt>
                <c:pt idx="91">
                  <c:v>2.161</c:v>
                </c:pt>
                <c:pt idx="92">
                  <c:v>1.7589999999999999</c:v>
                </c:pt>
                <c:pt idx="93">
                  <c:v>1.7135</c:v>
                </c:pt>
                <c:pt idx="94">
                  <c:v>1.6180000000000001</c:v>
                </c:pt>
                <c:pt idx="95">
                  <c:v>1.7755000000000001</c:v>
                </c:pt>
                <c:pt idx="96">
                  <c:v>1.6545000000000001</c:v>
                </c:pt>
                <c:pt idx="97">
                  <c:v>2.2574999999999998</c:v>
                </c:pt>
                <c:pt idx="98">
                  <c:v>2.1349999999999998</c:v>
                </c:pt>
                <c:pt idx="99">
                  <c:v>2.2650000000000001</c:v>
                </c:pt>
                <c:pt idx="100">
                  <c:v>1.9930000000000001</c:v>
                </c:pt>
                <c:pt idx="101">
                  <c:v>2.423</c:v>
                </c:pt>
                <c:pt idx="102">
                  <c:v>2.3574999999999999</c:v>
                </c:pt>
                <c:pt idx="103">
                  <c:v>2.2410000000000001</c:v>
                </c:pt>
                <c:pt idx="104">
                  <c:v>1.8720000000000001</c:v>
                </c:pt>
                <c:pt idx="105">
                  <c:v>1.8265</c:v>
                </c:pt>
                <c:pt idx="106">
                  <c:v>1.7605</c:v>
                </c:pt>
                <c:pt idx="107">
                  <c:v>1.7304999999999999</c:v>
                </c:pt>
                <c:pt idx="108">
                  <c:v>1.9339999999999999</c:v>
                </c:pt>
                <c:pt idx="109">
                  <c:v>1.3445</c:v>
                </c:pt>
                <c:pt idx="110">
                  <c:v>1.5415000000000001</c:v>
                </c:pt>
                <c:pt idx="111">
                  <c:v>1.6060000000000001</c:v>
                </c:pt>
                <c:pt idx="112">
                  <c:v>1.9045000000000001</c:v>
                </c:pt>
                <c:pt idx="113">
                  <c:v>2.0169999999999999</c:v>
                </c:pt>
                <c:pt idx="114">
                  <c:v>1.9730000000000001</c:v>
                </c:pt>
                <c:pt idx="115">
                  <c:v>1.8835</c:v>
                </c:pt>
                <c:pt idx="116">
                  <c:v>1.9570000000000001</c:v>
                </c:pt>
                <c:pt idx="117">
                  <c:v>1.9895</c:v>
                </c:pt>
                <c:pt idx="118">
                  <c:v>3.0665</c:v>
                </c:pt>
                <c:pt idx="119">
                  <c:v>3.4569999999999999</c:v>
                </c:pt>
                <c:pt idx="120">
                  <c:v>3.4205000000000001</c:v>
                </c:pt>
                <c:pt idx="121">
                  <c:v>3.927</c:v>
                </c:pt>
                <c:pt idx="122">
                  <c:v>3.9954999999999998</c:v>
                </c:pt>
                <c:pt idx="123">
                  <c:v>4.6574999999999998</c:v>
                </c:pt>
                <c:pt idx="124">
                  <c:v>4.4574999999999996</c:v>
                </c:pt>
                <c:pt idx="125">
                  <c:v>4.5279999999999996</c:v>
                </c:pt>
                <c:pt idx="126">
                  <c:v>4.6319999999999997</c:v>
                </c:pt>
                <c:pt idx="127">
                  <c:v>3.8849999999999998</c:v>
                </c:pt>
                <c:pt idx="128">
                  <c:v>3.2235</c:v>
                </c:pt>
                <c:pt idx="129">
                  <c:v>3.5649999999999999</c:v>
                </c:pt>
                <c:pt idx="130">
                  <c:v>3.9315000000000002</c:v>
                </c:pt>
                <c:pt idx="131">
                  <c:v>4.0810000000000004</c:v>
                </c:pt>
                <c:pt idx="132">
                  <c:v>3.6665000000000001</c:v>
                </c:pt>
                <c:pt idx="133">
                  <c:v>3.8170000000000002</c:v>
                </c:pt>
                <c:pt idx="134">
                  <c:v>4.0404999999999998</c:v>
                </c:pt>
                <c:pt idx="135">
                  <c:v>3.6379999999999999</c:v>
                </c:pt>
                <c:pt idx="136">
                  <c:v>2.8620000000000001</c:v>
                </c:pt>
                <c:pt idx="137">
                  <c:v>2.1349999999999998</c:v>
                </c:pt>
                <c:pt idx="138">
                  <c:v>2.5640000000000001</c:v>
                </c:pt>
                <c:pt idx="139">
                  <c:v>2.9409999999999998</c:v>
                </c:pt>
                <c:pt idx="140">
                  <c:v>3.2395</c:v>
                </c:pt>
                <c:pt idx="141">
                  <c:v>3.6720000000000002</c:v>
                </c:pt>
                <c:pt idx="142">
                  <c:v>4.0259999999999998</c:v>
                </c:pt>
                <c:pt idx="143">
                  <c:v>3.8995000000000002</c:v>
                </c:pt>
                <c:pt idx="144">
                  <c:v>4.1829999999999998</c:v>
                </c:pt>
                <c:pt idx="145">
                  <c:v>4.2880000000000003</c:v>
                </c:pt>
                <c:pt idx="146">
                  <c:v>4.0594999999999999</c:v>
                </c:pt>
                <c:pt idx="147">
                  <c:v>4.6680000000000001</c:v>
                </c:pt>
                <c:pt idx="148">
                  <c:v>5.9405000000000001</c:v>
                </c:pt>
                <c:pt idx="149">
                  <c:v>6.7954999999999997</c:v>
                </c:pt>
                <c:pt idx="150">
                  <c:v>6.726</c:v>
                </c:pt>
                <c:pt idx="151">
                  <c:v>6.2705000000000002</c:v>
                </c:pt>
                <c:pt idx="152">
                  <c:v>5.92</c:v>
                </c:pt>
                <c:pt idx="153">
                  <c:v>6.7885</c:v>
                </c:pt>
                <c:pt idx="154">
                  <c:v>6.8550000000000004</c:v>
                </c:pt>
                <c:pt idx="155">
                  <c:v>6.2729999999999997</c:v>
                </c:pt>
                <c:pt idx="156">
                  <c:v>5.4630000000000001</c:v>
                </c:pt>
                <c:pt idx="157">
                  <c:v>5.8944999999999999</c:v>
                </c:pt>
                <c:pt idx="158">
                  <c:v>6.2415000000000003</c:v>
                </c:pt>
                <c:pt idx="159">
                  <c:v>7.8529999999999998</c:v>
                </c:pt>
                <c:pt idx="160">
                  <c:v>8.2614999999999998</c:v>
                </c:pt>
                <c:pt idx="161">
                  <c:v>8.77</c:v>
                </c:pt>
                <c:pt idx="162">
                  <c:v>9</c:v>
                </c:pt>
                <c:pt idx="163">
                  <c:v>8.4819999999999993</c:v>
                </c:pt>
                <c:pt idx="164">
                  <c:v>8.6645000000000003</c:v>
                </c:pt>
                <c:pt idx="165">
                  <c:v>9.0065000000000008</c:v>
                </c:pt>
                <c:pt idx="166">
                  <c:v>9.7904999999999998</c:v>
                </c:pt>
                <c:pt idx="167">
                  <c:v>9.8345000000000002</c:v>
                </c:pt>
                <c:pt idx="168">
                  <c:v>10.224500000000001</c:v>
                </c:pt>
                <c:pt idx="169">
                  <c:v>11.125999999999999</c:v>
                </c:pt>
                <c:pt idx="170">
                  <c:v>10.7615</c:v>
                </c:pt>
                <c:pt idx="171">
                  <c:v>10.811500000000001</c:v>
                </c:pt>
                <c:pt idx="172">
                  <c:v>10.6755</c:v>
                </c:pt>
                <c:pt idx="173">
                  <c:v>9.6144999999999996</c:v>
                </c:pt>
                <c:pt idx="174">
                  <c:v>8.6549999999999994</c:v>
                </c:pt>
                <c:pt idx="175">
                  <c:v>9.7219999999999995</c:v>
                </c:pt>
                <c:pt idx="176">
                  <c:v>8.9845000000000006</c:v>
                </c:pt>
                <c:pt idx="177">
                  <c:v>10.125500000000001</c:v>
                </c:pt>
                <c:pt idx="178">
                  <c:v>11.595000000000001</c:v>
                </c:pt>
                <c:pt idx="179">
                  <c:v>10.6455</c:v>
                </c:pt>
                <c:pt idx="180">
                  <c:v>11.4175</c:v>
                </c:pt>
                <c:pt idx="181">
                  <c:v>11.664999999999999</c:v>
                </c:pt>
                <c:pt idx="182">
                  <c:v>12.413500000000001</c:v>
                </c:pt>
                <c:pt idx="183">
                  <c:v>12.715999999999999</c:v>
                </c:pt>
                <c:pt idx="184">
                  <c:v>11.644500000000001</c:v>
                </c:pt>
                <c:pt idx="185">
                  <c:v>12.602499999999999</c:v>
                </c:pt>
                <c:pt idx="186">
                  <c:v>12.5435</c:v>
                </c:pt>
                <c:pt idx="187">
                  <c:v>13.275</c:v>
                </c:pt>
                <c:pt idx="188">
                  <c:v>13.2135</c:v>
                </c:pt>
                <c:pt idx="189">
                  <c:v>13.3245</c:v>
                </c:pt>
                <c:pt idx="190">
                  <c:v>12.6905</c:v>
                </c:pt>
                <c:pt idx="191">
                  <c:v>13.46</c:v>
                </c:pt>
                <c:pt idx="192">
                  <c:v>13.884499999999999</c:v>
                </c:pt>
                <c:pt idx="193">
                  <c:v>15.061</c:v>
                </c:pt>
                <c:pt idx="194">
                  <c:v>14.048999999999999</c:v>
                </c:pt>
                <c:pt idx="195">
                  <c:v>15.632</c:v>
                </c:pt>
                <c:pt idx="196">
                  <c:v>18.201499999999999</c:v>
                </c:pt>
                <c:pt idx="197">
                  <c:v>19.681000000000001</c:v>
                </c:pt>
                <c:pt idx="198">
                  <c:v>19.939501</c:v>
                </c:pt>
                <c:pt idx="199">
                  <c:v>17.9345</c:v>
                </c:pt>
                <c:pt idx="200">
                  <c:v>18.105</c:v>
                </c:pt>
                <c:pt idx="201">
                  <c:v>16.818501000000001</c:v>
                </c:pt>
                <c:pt idx="202">
                  <c:v>15.2065</c:v>
                </c:pt>
                <c:pt idx="203">
                  <c:v>15.6275</c:v>
                </c:pt>
                <c:pt idx="204">
                  <c:v>16.239000000000001</c:v>
                </c:pt>
                <c:pt idx="205">
                  <c:v>15.6495</c:v>
                </c:pt>
                <c:pt idx="206">
                  <c:v>16.952000000000002</c:v>
                </c:pt>
                <c:pt idx="207">
                  <c:v>16.122</c:v>
                </c:pt>
                <c:pt idx="208">
                  <c:v>15.273</c:v>
                </c:pt>
                <c:pt idx="209">
                  <c:v>16.931999000000001</c:v>
                </c:pt>
                <c:pt idx="210">
                  <c:v>15.5175</c:v>
                </c:pt>
                <c:pt idx="211">
                  <c:v>17.726500000000001</c:v>
                </c:pt>
                <c:pt idx="212">
                  <c:v>19.007999000000002</c:v>
                </c:pt>
                <c:pt idx="213">
                  <c:v>18.605</c:v>
                </c:pt>
                <c:pt idx="214">
                  <c:v>21.089001</c:v>
                </c:pt>
                <c:pt idx="215">
                  <c:v>21.461500000000001</c:v>
                </c:pt>
                <c:pt idx="216">
                  <c:v>21.704499999999999</c:v>
                </c:pt>
                <c:pt idx="217">
                  <c:v>26.807500999999998</c:v>
                </c:pt>
                <c:pt idx="218">
                  <c:v>25.644501000000002</c:v>
                </c:pt>
                <c:pt idx="219">
                  <c:v>25.5945</c:v>
                </c:pt>
                <c:pt idx="220">
                  <c:v>31.295000000000002</c:v>
                </c:pt>
                <c:pt idx="221">
                  <c:v>33.240001999999997</c:v>
                </c:pt>
                <c:pt idx="222">
                  <c:v>33.794497999999997</c:v>
                </c:pt>
                <c:pt idx="223">
                  <c:v>29.35</c:v>
                </c:pt>
                <c:pt idx="224">
                  <c:v>27.625999</c:v>
                </c:pt>
                <c:pt idx="225">
                  <c:v>29.681999000000001</c:v>
                </c:pt>
                <c:pt idx="226">
                  <c:v>32.979500000000002</c:v>
                </c:pt>
                <c:pt idx="227">
                  <c:v>36.139499999999998</c:v>
                </c:pt>
                <c:pt idx="228">
                  <c:v>35.780997999999997</c:v>
                </c:pt>
                <c:pt idx="229">
                  <c:v>37.940497999999998</c:v>
                </c:pt>
                <c:pt idx="230">
                  <c:v>38.457999999999998</c:v>
                </c:pt>
                <c:pt idx="231">
                  <c:v>41.865501000000002</c:v>
                </c:pt>
                <c:pt idx="232">
                  <c:v>39.491000999999997</c:v>
                </c:pt>
                <c:pt idx="233">
                  <c:v>37.528500000000001</c:v>
                </c:pt>
                <c:pt idx="234">
                  <c:v>37.493499999999997</c:v>
                </c:pt>
                <c:pt idx="235">
                  <c:v>41.173999999999999</c:v>
                </c:pt>
                <c:pt idx="236">
                  <c:v>42.251998999999998</c:v>
                </c:pt>
                <c:pt idx="237">
                  <c:v>44.326999999999998</c:v>
                </c:pt>
                <c:pt idx="238">
                  <c:v>46.249499999999998</c:v>
                </c:pt>
                <c:pt idx="239">
                  <c:v>49.730998999999997</c:v>
                </c:pt>
                <c:pt idx="240">
                  <c:v>48.400002000000001</c:v>
                </c:pt>
                <c:pt idx="241">
                  <c:v>49.389000000000003</c:v>
                </c:pt>
                <c:pt idx="242">
                  <c:v>49.029998999999997</c:v>
                </c:pt>
                <c:pt idx="243">
                  <c:v>48.067501</c:v>
                </c:pt>
                <c:pt idx="244">
                  <c:v>55.264000000000003</c:v>
                </c:pt>
                <c:pt idx="245">
                  <c:v>58.837502000000001</c:v>
                </c:pt>
                <c:pt idx="246">
                  <c:v>58.473498999999997</c:v>
                </c:pt>
                <c:pt idx="247">
                  <c:v>72.544501999999994</c:v>
                </c:pt>
                <c:pt idx="248">
                  <c:v>75.622497999999993</c:v>
                </c:pt>
                <c:pt idx="249">
                  <c:v>72.366996999999998</c:v>
                </c:pt>
                <c:pt idx="250">
                  <c:v>78.306503000000006</c:v>
                </c:pt>
                <c:pt idx="251">
                  <c:v>81.481003000000001</c:v>
                </c:pt>
                <c:pt idx="252">
                  <c:v>84.989998</c:v>
                </c:pt>
                <c:pt idx="253">
                  <c:v>88.872001999999995</c:v>
                </c:pt>
                <c:pt idx="254">
                  <c:v>100.635498</c:v>
                </c:pt>
                <c:pt idx="255">
                  <c:v>100.150002</c:v>
                </c:pt>
                <c:pt idx="256">
                  <c:v>79.900497000000001</c:v>
                </c:pt>
                <c:pt idx="257">
                  <c:v>84.508499</c:v>
                </c:pt>
                <c:pt idx="258">
                  <c:v>75.098502999999994</c:v>
                </c:pt>
                <c:pt idx="259">
                  <c:v>85.936501000000007</c:v>
                </c:pt>
                <c:pt idx="260">
                  <c:v>81.991501</c:v>
                </c:pt>
                <c:pt idx="261">
                  <c:v>89.037497999999999</c:v>
                </c:pt>
                <c:pt idx="262">
                  <c:v>96.325996000000004</c:v>
                </c:pt>
                <c:pt idx="263">
                  <c:v>88.753501999999997</c:v>
                </c:pt>
                <c:pt idx="264">
                  <c:v>94.681503000000006</c:v>
                </c:pt>
                <c:pt idx="265">
                  <c:v>93.338997000000006</c:v>
                </c:pt>
                <c:pt idx="266">
                  <c:v>88.814498999999998</c:v>
                </c:pt>
                <c:pt idx="267">
                  <c:v>86.795501999999999</c:v>
                </c:pt>
                <c:pt idx="268">
                  <c:v>88.832999999999998</c:v>
                </c:pt>
                <c:pt idx="269">
                  <c:v>90.040001000000004</c:v>
                </c:pt>
                <c:pt idx="270">
                  <c:v>92.391998000000001</c:v>
                </c:pt>
                <c:pt idx="271">
                  <c:v>100.435997</c:v>
                </c:pt>
                <c:pt idx="272">
                  <c:v>94.1875</c:v>
                </c:pt>
                <c:pt idx="273">
                  <c:v>97.486000000000004</c:v>
                </c:pt>
                <c:pt idx="274">
                  <c:v>123.699997</c:v>
                </c:pt>
                <c:pt idx="275">
                  <c:v>122.1185</c:v>
                </c:pt>
                <c:pt idx="276">
                  <c:v>137.94099399999999</c:v>
                </c:pt>
                <c:pt idx="277">
                  <c:v>158.233994</c:v>
                </c:pt>
                <c:pt idx="278">
                  <c:v>172.54800399999999</c:v>
                </c:pt>
                <c:pt idx="279">
                  <c:v>157.43649300000001</c:v>
                </c:pt>
                <c:pt idx="280">
                  <c:v>151.80749499999999</c:v>
                </c:pt>
                <c:pt idx="281">
                  <c:v>158.401993</c:v>
                </c:pt>
                <c:pt idx="282">
                  <c:v>162.846497</c:v>
                </c:pt>
                <c:pt idx="283">
                  <c:v>160.30999800000001</c:v>
                </c:pt>
                <c:pt idx="284">
                  <c:v>154.6465</c:v>
                </c:pt>
                <c:pt idx="285">
                  <c:v>154.70399499999999</c:v>
                </c:pt>
                <c:pt idx="286">
                  <c:v>173.371002</c:v>
                </c:pt>
                <c:pt idx="287">
                  <c:v>161.153503</c:v>
                </c:pt>
                <c:pt idx="288">
                  <c:v>172.00799599999999</c:v>
                </c:pt>
                <c:pt idx="289">
                  <c:v>166.379501</c:v>
                </c:pt>
                <c:pt idx="290">
                  <c:v>173.53950499999999</c:v>
                </c:pt>
                <c:pt idx="291">
                  <c:v>164.25199900000001</c:v>
                </c:pt>
                <c:pt idx="292">
                  <c:v>168.62150600000001</c:v>
                </c:pt>
                <c:pt idx="293">
                  <c:v>175.3535</c:v>
                </c:pt>
                <c:pt idx="294">
                  <c:v>166.716995</c:v>
                </c:pt>
                <c:pt idx="295">
                  <c:v>149.57350199999999</c:v>
                </c:pt>
                <c:pt idx="296">
                  <c:v>153.56300400000001</c:v>
                </c:pt>
                <c:pt idx="297">
                  <c:v>162.99749800000001</c:v>
                </c:pt>
                <c:pt idx="298">
                  <c:v>124.281502</c:v>
                </c:pt>
                <c:pt idx="299">
                  <c:v>120.209503</c:v>
                </c:pt>
                <c:pt idx="300">
                  <c:v>106.209999</c:v>
                </c:pt>
                <c:pt idx="301">
                  <c:v>134.949997</c:v>
                </c:pt>
                <c:pt idx="302">
                  <c:v>126.769997</c:v>
                </c:pt>
                <c:pt idx="303">
                  <c:v>113</c:v>
                </c:pt>
                <c:pt idx="304">
                  <c:v>102.44000200000001</c:v>
                </c:pt>
                <c:pt idx="305">
                  <c:v>96.540001000000004</c:v>
                </c:pt>
                <c:pt idx="306">
                  <c:v>84</c:v>
                </c:pt>
                <c:pt idx="307">
                  <c:v>103.129997</c:v>
                </c:pt>
                <c:pt idx="308">
                  <c:v>94.230002999999996</c:v>
                </c:pt>
                <c:pt idx="309">
                  <c:v>103.290001</c:v>
                </c:pt>
                <c:pt idx="310">
                  <c:v>105.449997</c:v>
                </c:pt>
                <c:pt idx="311">
                  <c:v>120.58000199999999</c:v>
                </c:pt>
                <c:pt idx="312">
                  <c:v>130.36000100000001</c:v>
                </c:pt>
                <c:pt idx="313">
                  <c:v>133.679993</c:v>
                </c:pt>
                <c:pt idx="314">
                  <c:v>142.220001</c:v>
                </c:pt>
              </c:numCache>
            </c:numRef>
          </c:val>
          <c:smooth val="0"/>
          <c:extLst>
            <c:ext xmlns:c16="http://schemas.microsoft.com/office/drawing/2014/chart" uri="{C3380CC4-5D6E-409C-BE32-E72D297353CC}">
              <c16:uniqueId val="{00000001-5EE2-9B42-A462-225A45125633}"/>
            </c:ext>
          </c:extLst>
        </c:ser>
        <c:dLbls>
          <c:showLegendKey val="0"/>
          <c:showVal val="0"/>
          <c:showCatName val="0"/>
          <c:showSerName val="0"/>
          <c:showPercent val="0"/>
          <c:showBubbleSize val="0"/>
        </c:dLbls>
        <c:smooth val="0"/>
        <c:axId val="1165419135"/>
        <c:axId val="1165420863"/>
      </c:lineChart>
      <c:dateAx>
        <c:axId val="1165419135"/>
        <c:scaling>
          <c:orientation val="minMax"/>
        </c:scaling>
        <c:delete val="0"/>
        <c:axPos val="b"/>
        <c:numFmt formatCode="m/d/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5420863"/>
        <c:crosses val="autoZero"/>
        <c:auto val="1"/>
        <c:lblOffset val="100"/>
        <c:baseTimeUnit val="months"/>
      </c:dateAx>
      <c:valAx>
        <c:axId val="116542086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5419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effectLst/>
              </a:rPr>
              <a:t>Comparison of Model Forecast</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2"/>
          <c:order val="0"/>
          <c:tx>
            <c:v>Huber Model</c:v>
          </c:tx>
          <c:spPr>
            <a:ln w="28575" cap="rnd">
              <a:solidFill>
                <a:schemeClr val="accent3"/>
              </a:solidFill>
              <a:round/>
            </a:ln>
            <a:effectLst/>
          </c:spPr>
          <c:marker>
            <c:symbol val="none"/>
          </c:marker>
          <c:cat>
            <c:numRef>
              <c:f>Sheet3!$A$2:$A$8</c:f>
              <c:numCache>
                <c:formatCode>m/d/yy\ h:mm</c:formatCode>
                <c:ptCount val="7"/>
                <c:pt idx="0">
                  <c:v>45139</c:v>
                </c:pt>
                <c:pt idx="1">
                  <c:v>45140</c:v>
                </c:pt>
                <c:pt idx="2">
                  <c:v>45141</c:v>
                </c:pt>
                <c:pt idx="3">
                  <c:v>45142</c:v>
                </c:pt>
                <c:pt idx="4">
                  <c:v>45145</c:v>
                </c:pt>
                <c:pt idx="5">
                  <c:v>45146</c:v>
                </c:pt>
                <c:pt idx="6">
                  <c:v>45147</c:v>
                </c:pt>
              </c:numCache>
            </c:numRef>
          </c:cat>
          <c:val>
            <c:numRef>
              <c:f>Sheet3!$D$2:$D$8</c:f>
              <c:numCache>
                <c:formatCode>0.00</c:formatCode>
                <c:ptCount val="7"/>
                <c:pt idx="0">
                  <c:v>24.540360813160699</c:v>
                </c:pt>
                <c:pt idx="1">
                  <c:v>24.481456590132701</c:v>
                </c:pt>
                <c:pt idx="2">
                  <c:v>24.6442189553951</c:v>
                </c:pt>
                <c:pt idx="3">
                  <c:v>25.038465609653802</c:v>
                </c:pt>
                <c:pt idx="4">
                  <c:v>24.713269258014201</c:v>
                </c:pt>
                <c:pt idx="5">
                  <c:v>24.5345146766375</c:v>
                </c:pt>
              </c:numCache>
            </c:numRef>
          </c:val>
          <c:smooth val="0"/>
          <c:extLst>
            <c:ext xmlns:c16="http://schemas.microsoft.com/office/drawing/2014/chart" uri="{C3380CC4-5D6E-409C-BE32-E72D297353CC}">
              <c16:uniqueId val="{00000000-601B-2643-B10E-71725A5BDA35}"/>
            </c:ext>
          </c:extLst>
        </c:ser>
        <c:ser>
          <c:idx val="3"/>
          <c:order val="1"/>
          <c:tx>
            <c:strRef>
              <c:f>Sheet3!$E$1</c:f>
              <c:strCache>
                <c:ptCount val="1"/>
                <c:pt idx="0">
                  <c:v>Huber Forecast_Return</c:v>
                </c:pt>
              </c:strCache>
            </c:strRef>
          </c:tx>
          <c:spPr>
            <a:ln w="28575" cap="rnd">
              <a:solidFill>
                <a:schemeClr val="accent4"/>
              </a:solidFill>
              <a:round/>
            </a:ln>
            <a:effectLst/>
          </c:spPr>
          <c:marker>
            <c:symbol val="none"/>
          </c:marker>
          <c:dPt>
            <c:idx val="6"/>
            <c:marker>
              <c:symbol val="none"/>
            </c:marker>
            <c:bubble3D val="0"/>
            <c:spPr>
              <a:ln w="28575" cap="rnd">
                <a:solidFill>
                  <a:schemeClr val="accent4"/>
                </a:solidFill>
                <a:prstDash val="sysDash"/>
                <a:round/>
              </a:ln>
              <a:effectLst/>
            </c:spPr>
            <c:extLst>
              <c:ext xmlns:c16="http://schemas.microsoft.com/office/drawing/2014/chart" uri="{C3380CC4-5D6E-409C-BE32-E72D297353CC}">
                <c16:uniqueId val="{00000002-601B-2643-B10E-71725A5BDA35}"/>
              </c:ext>
            </c:extLst>
          </c:dPt>
          <c:cat>
            <c:numRef>
              <c:f>Sheet3!$A$2:$A$8</c:f>
              <c:numCache>
                <c:formatCode>m/d/yy\ h:mm</c:formatCode>
                <c:ptCount val="7"/>
                <c:pt idx="0">
                  <c:v>45139</c:v>
                </c:pt>
                <c:pt idx="1">
                  <c:v>45140</c:v>
                </c:pt>
                <c:pt idx="2">
                  <c:v>45141</c:v>
                </c:pt>
                <c:pt idx="3">
                  <c:v>45142</c:v>
                </c:pt>
                <c:pt idx="4">
                  <c:v>45145</c:v>
                </c:pt>
                <c:pt idx="5">
                  <c:v>45146</c:v>
                </c:pt>
                <c:pt idx="6">
                  <c:v>45147</c:v>
                </c:pt>
              </c:numCache>
            </c:numRef>
          </c:cat>
          <c:val>
            <c:numRef>
              <c:f>Sheet3!$E$2:$E$8</c:f>
              <c:numCache>
                <c:formatCode>General</c:formatCode>
                <c:ptCount val="7"/>
                <c:pt idx="5" formatCode="0.00">
                  <c:v>24.5345146766375</c:v>
                </c:pt>
                <c:pt idx="6" formatCode="0.00">
                  <c:v>24.5568912404011</c:v>
                </c:pt>
              </c:numCache>
            </c:numRef>
          </c:val>
          <c:smooth val="0"/>
          <c:extLst>
            <c:ext xmlns:c16="http://schemas.microsoft.com/office/drawing/2014/chart" uri="{C3380CC4-5D6E-409C-BE32-E72D297353CC}">
              <c16:uniqueId val="{00000003-601B-2643-B10E-71725A5BDA35}"/>
            </c:ext>
          </c:extLst>
        </c:ser>
        <c:ser>
          <c:idx val="4"/>
          <c:order val="2"/>
          <c:tx>
            <c:v>Liner Regression Model</c:v>
          </c:tx>
          <c:spPr>
            <a:ln w="28575" cap="rnd">
              <a:solidFill>
                <a:schemeClr val="accent5"/>
              </a:solidFill>
              <a:round/>
            </a:ln>
            <a:effectLst/>
          </c:spPr>
          <c:marker>
            <c:symbol val="none"/>
          </c:marker>
          <c:cat>
            <c:numRef>
              <c:f>Sheet3!$A$2:$A$8</c:f>
              <c:numCache>
                <c:formatCode>m/d/yy\ h:mm</c:formatCode>
                <c:ptCount val="7"/>
                <c:pt idx="0">
                  <c:v>45139</c:v>
                </c:pt>
                <c:pt idx="1">
                  <c:v>45140</c:v>
                </c:pt>
                <c:pt idx="2">
                  <c:v>45141</c:v>
                </c:pt>
                <c:pt idx="3">
                  <c:v>45142</c:v>
                </c:pt>
                <c:pt idx="4">
                  <c:v>45145</c:v>
                </c:pt>
                <c:pt idx="5">
                  <c:v>45146</c:v>
                </c:pt>
                <c:pt idx="6">
                  <c:v>45147</c:v>
                </c:pt>
              </c:numCache>
            </c:numRef>
          </c:cat>
          <c:val>
            <c:numRef>
              <c:f>Sheet3!$F$2:$F$8</c:f>
              <c:numCache>
                <c:formatCode>0.00</c:formatCode>
                <c:ptCount val="7"/>
                <c:pt idx="0">
                  <c:v>33.621370664657597</c:v>
                </c:pt>
                <c:pt idx="1">
                  <c:v>33.652216474804597</c:v>
                </c:pt>
                <c:pt idx="2">
                  <c:v>33.566984266316503</c:v>
                </c:pt>
                <c:pt idx="3">
                  <c:v>33.360532897922099</c:v>
                </c:pt>
                <c:pt idx="4">
                  <c:v>33.530825355873503</c:v>
                </c:pt>
                <c:pt idx="5">
                  <c:v>33.624432054962398</c:v>
                </c:pt>
              </c:numCache>
            </c:numRef>
          </c:val>
          <c:smooth val="0"/>
          <c:extLst>
            <c:ext xmlns:c16="http://schemas.microsoft.com/office/drawing/2014/chart" uri="{C3380CC4-5D6E-409C-BE32-E72D297353CC}">
              <c16:uniqueId val="{00000004-601B-2643-B10E-71725A5BDA35}"/>
            </c:ext>
          </c:extLst>
        </c:ser>
        <c:ser>
          <c:idx val="5"/>
          <c:order val="3"/>
          <c:tx>
            <c:strRef>
              <c:f>Sheet3!$G$1</c:f>
              <c:strCache>
                <c:ptCount val="1"/>
                <c:pt idx="0">
                  <c:v>LR Forecast_Return</c:v>
                </c:pt>
              </c:strCache>
            </c:strRef>
          </c:tx>
          <c:spPr>
            <a:ln w="28575" cap="rnd">
              <a:solidFill>
                <a:schemeClr val="accent6"/>
              </a:solidFill>
              <a:prstDash val="sysDash"/>
              <a:round/>
            </a:ln>
            <a:effectLst/>
          </c:spPr>
          <c:marker>
            <c:symbol val="none"/>
          </c:marker>
          <c:cat>
            <c:numRef>
              <c:f>Sheet3!$A$2:$A$8</c:f>
              <c:numCache>
                <c:formatCode>m/d/yy\ h:mm</c:formatCode>
                <c:ptCount val="7"/>
                <c:pt idx="0">
                  <c:v>45139</c:v>
                </c:pt>
                <c:pt idx="1">
                  <c:v>45140</c:v>
                </c:pt>
                <c:pt idx="2">
                  <c:v>45141</c:v>
                </c:pt>
                <c:pt idx="3">
                  <c:v>45142</c:v>
                </c:pt>
                <c:pt idx="4">
                  <c:v>45145</c:v>
                </c:pt>
                <c:pt idx="5">
                  <c:v>45146</c:v>
                </c:pt>
                <c:pt idx="6">
                  <c:v>45147</c:v>
                </c:pt>
              </c:numCache>
            </c:numRef>
          </c:cat>
          <c:val>
            <c:numRef>
              <c:f>Sheet3!$G$2:$G$8</c:f>
              <c:numCache>
                <c:formatCode>General</c:formatCode>
                <c:ptCount val="7"/>
                <c:pt idx="5" formatCode="0.00">
                  <c:v>33.624432054962398</c:v>
                </c:pt>
                <c:pt idx="6" formatCode="0.00">
                  <c:v>33.612714334192802</c:v>
                </c:pt>
              </c:numCache>
            </c:numRef>
          </c:val>
          <c:smooth val="0"/>
          <c:extLst>
            <c:ext xmlns:c16="http://schemas.microsoft.com/office/drawing/2014/chart" uri="{C3380CC4-5D6E-409C-BE32-E72D297353CC}">
              <c16:uniqueId val="{00000005-601B-2643-B10E-71725A5BDA35}"/>
            </c:ext>
          </c:extLst>
        </c:ser>
        <c:dLbls>
          <c:showLegendKey val="0"/>
          <c:showVal val="0"/>
          <c:showCatName val="0"/>
          <c:showSerName val="0"/>
          <c:showPercent val="0"/>
          <c:showBubbleSize val="0"/>
        </c:dLbls>
        <c:smooth val="0"/>
        <c:axId val="220316831"/>
        <c:axId val="220352015"/>
      </c:lineChart>
      <c:dateAx>
        <c:axId val="220316831"/>
        <c:scaling>
          <c:orientation val="minMax"/>
        </c:scaling>
        <c:delete val="0"/>
        <c:axPos val="b"/>
        <c:numFmt formatCode="m/d/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0352015"/>
        <c:crosses val="autoZero"/>
        <c:auto val="1"/>
        <c:lblOffset val="100"/>
        <c:baseTimeUnit val="days"/>
      </c:dateAx>
      <c:valAx>
        <c:axId val="220352015"/>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0316831"/>
        <c:crosses val="autoZero"/>
        <c:crossBetween val="between"/>
      </c:valAx>
      <c:spPr>
        <a:noFill/>
        <a:ln>
          <a:noFill/>
        </a:ln>
        <a:effectLst/>
      </c:spPr>
    </c:plotArea>
    <c:legend>
      <c:legendPos val="b"/>
      <c:legendEntry>
        <c:idx val="1"/>
        <c:delete val="1"/>
      </c:legendEntry>
      <c:legendEntry>
        <c:idx val="3"/>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CC1F4C-860C-46C8-8ADF-BD2595BAFBA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743DCAFB-BDF4-4E45-958A-90AF480BF5B2}">
      <dgm:prSet/>
      <dgm:spPr/>
      <dgm:t>
        <a:bodyPr/>
        <a:lstStyle/>
        <a:p>
          <a:r>
            <a:rPr lang="en-US" dirty="0"/>
            <a:t>SPY Holdings</a:t>
          </a:r>
        </a:p>
      </dgm:t>
    </dgm:pt>
    <dgm:pt modelId="{BC3B4A38-3391-4E4F-96C9-73BA67E8F836}" type="parTrans" cxnId="{A27490FD-7AD5-4150-8E87-B6AF653FFB2B}">
      <dgm:prSet/>
      <dgm:spPr/>
      <dgm:t>
        <a:bodyPr/>
        <a:lstStyle/>
        <a:p>
          <a:endParaRPr lang="en-US"/>
        </a:p>
      </dgm:t>
    </dgm:pt>
    <dgm:pt modelId="{8F043BB5-8776-4301-B3FC-21A835AED3C9}" type="sibTrans" cxnId="{A27490FD-7AD5-4150-8E87-B6AF653FFB2B}">
      <dgm:prSet phldrT="01" phldr="0"/>
      <dgm:spPr/>
      <dgm:t>
        <a:bodyPr/>
        <a:lstStyle/>
        <a:p>
          <a:endParaRPr lang="en-US"/>
        </a:p>
      </dgm:t>
    </dgm:pt>
    <dgm:pt modelId="{FC1AF813-9FCD-4408-9E3C-28567CD20347}">
      <dgm:prSet/>
      <dgm:spPr/>
      <dgm:t>
        <a:bodyPr/>
        <a:lstStyle/>
        <a:p>
          <a:r>
            <a:rPr lang="en-US" dirty="0"/>
            <a:t>Patterns and Trends in Historical Return</a:t>
          </a:r>
        </a:p>
      </dgm:t>
    </dgm:pt>
    <dgm:pt modelId="{09780CE2-3EE8-41D5-B2E5-655F2077A02F}" type="parTrans" cxnId="{C2015020-2189-454C-A96D-F3D17F11DFD1}">
      <dgm:prSet/>
      <dgm:spPr/>
      <dgm:t>
        <a:bodyPr/>
        <a:lstStyle/>
        <a:p>
          <a:endParaRPr lang="en-US"/>
        </a:p>
      </dgm:t>
    </dgm:pt>
    <dgm:pt modelId="{FAB25DF0-A6AE-4625-AB0F-E1AFC3337D99}" type="sibTrans" cxnId="{C2015020-2189-454C-A96D-F3D17F11DFD1}">
      <dgm:prSet phldrT="02" phldr="0"/>
      <dgm:spPr/>
      <dgm:t>
        <a:bodyPr/>
        <a:lstStyle/>
        <a:p>
          <a:endParaRPr lang="en-US"/>
        </a:p>
      </dgm:t>
    </dgm:pt>
    <dgm:pt modelId="{6AD82E23-F5D0-4BDB-AE1B-9EA272B9EDCE}">
      <dgm:prSet/>
      <dgm:spPr/>
      <dgm:t>
        <a:bodyPr/>
        <a:lstStyle/>
        <a:p>
          <a:r>
            <a:rPr lang="en-US" dirty="0"/>
            <a:t>Model Evaluation</a:t>
          </a:r>
        </a:p>
      </dgm:t>
    </dgm:pt>
    <dgm:pt modelId="{B493E90D-14F2-4A30-B511-7F5864574F34}" type="parTrans" cxnId="{8787CB97-F1AB-4142-B4BE-7AA3657555F7}">
      <dgm:prSet/>
      <dgm:spPr/>
      <dgm:t>
        <a:bodyPr/>
        <a:lstStyle/>
        <a:p>
          <a:endParaRPr lang="en-US"/>
        </a:p>
      </dgm:t>
    </dgm:pt>
    <dgm:pt modelId="{6E8C2996-C7AE-44F1-8B6F-38BB4CAEB87E}" type="sibTrans" cxnId="{8787CB97-F1AB-4142-B4BE-7AA3657555F7}">
      <dgm:prSet phldrT="03" phldr="0"/>
      <dgm:spPr/>
      <dgm:t>
        <a:bodyPr/>
        <a:lstStyle/>
        <a:p>
          <a:endParaRPr lang="en-US"/>
        </a:p>
      </dgm:t>
    </dgm:pt>
    <dgm:pt modelId="{302CF502-B01D-4F94-9E2D-F88A6479CB6F}">
      <dgm:prSet/>
      <dgm:spPr/>
      <dgm:t>
        <a:bodyPr/>
        <a:lstStyle/>
        <a:p>
          <a:r>
            <a:rPr lang="en-US" dirty="0"/>
            <a:t>Forecast return</a:t>
          </a:r>
        </a:p>
      </dgm:t>
    </dgm:pt>
    <dgm:pt modelId="{781BD01A-ADEA-497C-9B70-EE6072DAFD23}" type="parTrans" cxnId="{D46AA995-DB7D-443C-80A9-19100DBF84E2}">
      <dgm:prSet/>
      <dgm:spPr/>
      <dgm:t>
        <a:bodyPr/>
        <a:lstStyle/>
        <a:p>
          <a:endParaRPr lang="en-US"/>
        </a:p>
      </dgm:t>
    </dgm:pt>
    <dgm:pt modelId="{DAB45906-37E7-4320-8117-D041DF88B345}" type="sibTrans" cxnId="{D46AA995-DB7D-443C-80A9-19100DBF84E2}">
      <dgm:prSet phldrT="04" phldr="0"/>
      <dgm:spPr/>
      <dgm:t>
        <a:bodyPr/>
        <a:lstStyle/>
        <a:p>
          <a:endParaRPr lang="en-US"/>
        </a:p>
      </dgm:t>
    </dgm:pt>
    <dgm:pt modelId="{4561DA9A-EE35-40D5-86C7-E4DFFF0B9D3E}">
      <dgm:prSet/>
      <dgm:spPr/>
      <dgm:t>
        <a:bodyPr/>
        <a:lstStyle/>
        <a:p>
          <a:r>
            <a:rPr lang="en-US" dirty="0"/>
            <a:t>Summary</a:t>
          </a:r>
        </a:p>
      </dgm:t>
    </dgm:pt>
    <dgm:pt modelId="{D359EAE9-3F3A-44A6-B35B-EF316750487B}" type="parTrans" cxnId="{14198ED0-5DA3-4221-A1E6-6E56F3607715}">
      <dgm:prSet/>
      <dgm:spPr/>
      <dgm:t>
        <a:bodyPr/>
        <a:lstStyle/>
        <a:p>
          <a:endParaRPr lang="en-US"/>
        </a:p>
      </dgm:t>
    </dgm:pt>
    <dgm:pt modelId="{66A15B23-2A51-418C-A397-85DF15B77CFB}" type="sibTrans" cxnId="{14198ED0-5DA3-4221-A1E6-6E56F3607715}">
      <dgm:prSet phldrT="05" phldr="0"/>
      <dgm:spPr/>
      <dgm:t>
        <a:bodyPr/>
        <a:lstStyle/>
        <a:p>
          <a:endParaRPr lang="en-US"/>
        </a:p>
      </dgm:t>
    </dgm:pt>
    <dgm:pt modelId="{1C3910BF-EFA4-40C4-9049-20262786DB50}">
      <dgm:prSet/>
      <dgm:spPr/>
      <dgm:t>
        <a:bodyPr/>
        <a:lstStyle/>
        <a:p>
          <a:r>
            <a:rPr lang="en-US" dirty="0"/>
            <a:t>Conclusion</a:t>
          </a:r>
        </a:p>
      </dgm:t>
    </dgm:pt>
    <dgm:pt modelId="{31AD547E-3FF8-4397-A29C-E67E3473DDBA}" type="parTrans" cxnId="{F7448A37-7F31-4928-A085-F9A6D3AEA70C}">
      <dgm:prSet/>
      <dgm:spPr/>
      <dgm:t>
        <a:bodyPr/>
        <a:lstStyle/>
        <a:p>
          <a:endParaRPr lang="en-US"/>
        </a:p>
      </dgm:t>
    </dgm:pt>
    <dgm:pt modelId="{79F9F545-3D40-44A9-A5D0-F5D1DAF6AEC6}" type="sibTrans" cxnId="{F7448A37-7F31-4928-A085-F9A6D3AEA70C}">
      <dgm:prSet phldrT="06" phldr="0"/>
      <dgm:spPr/>
      <dgm:t>
        <a:bodyPr/>
        <a:lstStyle/>
        <a:p>
          <a:endParaRPr lang="en-US"/>
        </a:p>
      </dgm:t>
    </dgm:pt>
    <dgm:pt modelId="{B17A9697-0A31-C545-B30E-122594BE9B7F}" type="pres">
      <dgm:prSet presAssocID="{DBCC1F4C-860C-46C8-8ADF-BD2595BAFBA4}" presName="vert0" presStyleCnt="0">
        <dgm:presLayoutVars>
          <dgm:dir/>
          <dgm:animOne val="branch"/>
          <dgm:animLvl val="lvl"/>
        </dgm:presLayoutVars>
      </dgm:prSet>
      <dgm:spPr/>
    </dgm:pt>
    <dgm:pt modelId="{1627A0DE-055C-9146-BD0E-4CCC2FFBA230}" type="pres">
      <dgm:prSet presAssocID="{743DCAFB-BDF4-4E45-958A-90AF480BF5B2}" presName="thickLine" presStyleLbl="alignNode1" presStyleIdx="0" presStyleCnt="6"/>
      <dgm:spPr/>
    </dgm:pt>
    <dgm:pt modelId="{3B1BEE50-9B54-DF4F-888C-46EC0D0FB40A}" type="pres">
      <dgm:prSet presAssocID="{743DCAFB-BDF4-4E45-958A-90AF480BF5B2}" presName="horz1" presStyleCnt="0"/>
      <dgm:spPr/>
    </dgm:pt>
    <dgm:pt modelId="{A3103E3C-8D3E-3642-9F0A-D61208C84A9E}" type="pres">
      <dgm:prSet presAssocID="{743DCAFB-BDF4-4E45-958A-90AF480BF5B2}" presName="tx1" presStyleLbl="revTx" presStyleIdx="0" presStyleCnt="6"/>
      <dgm:spPr/>
    </dgm:pt>
    <dgm:pt modelId="{21E82EF3-6041-C249-9FA8-40DBE2CDAC68}" type="pres">
      <dgm:prSet presAssocID="{743DCAFB-BDF4-4E45-958A-90AF480BF5B2}" presName="vert1" presStyleCnt="0"/>
      <dgm:spPr/>
    </dgm:pt>
    <dgm:pt modelId="{66D3D53B-2172-0C4A-8C32-FB82742AB3D1}" type="pres">
      <dgm:prSet presAssocID="{FC1AF813-9FCD-4408-9E3C-28567CD20347}" presName="thickLine" presStyleLbl="alignNode1" presStyleIdx="1" presStyleCnt="6"/>
      <dgm:spPr/>
    </dgm:pt>
    <dgm:pt modelId="{BCDBA032-C393-9B4F-9C5E-84F49638A0DD}" type="pres">
      <dgm:prSet presAssocID="{FC1AF813-9FCD-4408-9E3C-28567CD20347}" presName="horz1" presStyleCnt="0"/>
      <dgm:spPr/>
    </dgm:pt>
    <dgm:pt modelId="{9DF0D5B0-9F5A-0B4D-A7D2-7081A1DCFA97}" type="pres">
      <dgm:prSet presAssocID="{FC1AF813-9FCD-4408-9E3C-28567CD20347}" presName="tx1" presStyleLbl="revTx" presStyleIdx="1" presStyleCnt="6"/>
      <dgm:spPr/>
    </dgm:pt>
    <dgm:pt modelId="{296E47B1-1E64-C64B-ACB4-631C24DD1C27}" type="pres">
      <dgm:prSet presAssocID="{FC1AF813-9FCD-4408-9E3C-28567CD20347}" presName="vert1" presStyleCnt="0"/>
      <dgm:spPr/>
    </dgm:pt>
    <dgm:pt modelId="{5015F684-F0E9-6C47-A531-2B27BBD99E10}" type="pres">
      <dgm:prSet presAssocID="{6AD82E23-F5D0-4BDB-AE1B-9EA272B9EDCE}" presName="thickLine" presStyleLbl="alignNode1" presStyleIdx="2" presStyleCnt="6"/>
      <dgm:spPr/>
    </dgm:pt>
    <dgm:pt modelId="{52B269CE-C1BC-5C4C-9E7B-5F401F5400DC}" type="pres">
      <dgm:prSet presAssocID="{6AD82E23-F5D0-4BDB-AE1B-9EA272B9EDCE}" presName="horz1" presStyleCnt="0"/>
      <dgm:spPr/>
    </dgm:pt>
    <dgm:pt modelId="{14D01663-3CBD-E240-BC95-8009CE68DF06}" type="pres">
      <dgm:prSet presAssocID="{6AD82E23-F5D0-4BDB-AE1B-9EA272B9EDCE}" presName="tx1" presStyleLbl="revTx" presStyleIdx="2" presStyleCnt="6"/>
      <dgm:spPr/>
    </dgm:pt>
    <dgm:pt modelId="{7BE61705-8BDA-8443-A72F-FBE0769CD18F}" type="pres">
      <dgm:prSet presAssocID="{6AD82E23-F5D0-4BDB-AE1B-9EA272B9EDCE}" presName="vert1" presStyleCnt="0"/>
      <dgm:spPr/>
    </dgm:pt>
    <dgm:pt modelId="{CB946253-E040-E74A-BC6A-6C2155B97C1E}" type="pres">
      <dgm:prSet presAssocID="{302CF502-B01D-4F94-9E2D-F88A6479CB6F}" presName="thickLine" presStyleLbl="alignNode1" presStyleIdx="3" presStyleCnt="6"/>
      <dgm:spPr/>
    </dgm:pt>
    <dgm:pt modelId="{B34F8D19-5005-1047-9E31-F57F28C8D98F}" type="pres">
      <dgm:prSet presAssocID="{302CF502-B01D-4F94-9E2D-F88A6479CB6F}" presName="horz1" presStyleCnt="0"/>
      <dgm:spPr/>
    </dgm:pt>
    <dgm:pt modelId="{2203298B-F840-7E45-8E71-31A3D76CA31A}" type="pres">
      <dgm:prSet presAssocID="{302CF502-B01D-4F94-9E2D-F88A6479CB6F}" presName="tx1" presStyleLbl="revTx" presStyleIdx="3" presStyleCnt="6"/>
      <dgm:spPr/>
    </dgm:pt>
    <dgm:pt modelId="{44524936-4D3B-0B4D-9544-B8EC6E87FE09}" type="pres">
      <dgm:prSet presAssocID="{302CF502-B01D-4F94-9E2D-F88A6479CB6F}" presName="vert1" presStyleCnt="0"/>
      <dgm:spPr/>
    </dgm:pt>
    <dgm:pt modelId="{B09523A9-F8F8-244E-80AB-AC079DE194BB}" type="pres">
      <dgm:prSet presAssocID="{4561DA9A-EE35-40D5-86C7-E4DFFF0B9D3E}" presName="thickLine" presStyleLbl="alignNode1" presStyleIdx="4" presStyleCnt="6"/>
      <dgm:spPr/>
    </dgm:pt>
    <dgm:pt modelId="{D9CFE02B-2CCD-2848-8C2D-25C8CF8AA900}" type="pres">
      <dgm:prSet presAssocID="{4561DA9A-EE35-40D5-86C7-E4DFFF0B9D3E}" presName="horz1" presStyleCnt="0"/>
      <dgm:spPr/>
    </dgm:pt>
    <dgm:pt modelId="{307DF388-C2B0-6140-AF03-1863F710716F}" type="pres">
      <dgm:prSet presAssocID="{4561DA9A-EE35-40D5-86C7-E4DFFF0B9D3E}" presName="tx1" presStyleLbl="revTx" presStyleIdx="4" presStyleCnt="6"/>
      <dgm:spPr/>
    </dgm:pt>
    <dgm:pt modelId="{68CB6DEE-35AF-D84D-A0D6-05C9FAB1AC17}" type="pres">
      <dgm:prSet presAssocID="{4561DA9A-EE35-40D5-86C7-E4DFFF0B9D3E}" presName="vert1" presStyleCnt="0"/>
      <dgm:spPr/>
    </dgm:pt>
    <dgm:pt modelId="{B19D6816-FF87-064B-9E47-644FF8DB1A10}" type="pres">
      <dgm:prSet presAssocID="{1C3910BF-EFA4-40C4-9049-20262786DB50}" presName="thickLine" presStyleLbl="alignNode1" presStyleIdx="5" presStyleCnt="6"/>
      <dgm:spPr/>
    </dgm:pt>
    <dgm:pt modelId="{AA3D6553-D749-664C-98C4-33EF8C4AD8C7}" type="pres">
      <dgm:prSet presAssocID="{1C3910BF-EFA4-40C4-9049-20262786DB50}" presName="horz1" presStyleCnt="0"/>
      <dgm:spPr/>
    </dgm:pt>
    <dgm:pt modelId="{11993EC3-4312-F647-94F9-04558FEE2677}" type="pres">
      <dgm:prSet presAssocID="{1C3910BF-EFA4-40C4-9049-20262786DB50}" presName="tx1" presStyleLbl="revTx" presStyleIdx="5" presStyleCnt="6"/>
      <dgm:spPr/>
    </dgm:pt>
    <dgm:pt modelId="{7BA331EA-E92B-8841-9943-0D5807A76230}" type="pres">
      <dgm:prSet presAssocID="{1C3910BF-EFA4-40C4-9049-20262786DB50}" presName="vert1" presStyleCnt="0"/>
      <dgm:spPr/>
    </dgm:pt>
  </dgm:ptLst>
  <dgm:cxnLst>
    <dgm:cxn modelId="{0DF11F1F-968A-4B49-9D64-B0E052F11C50}" type="presOf" srcId="{6AD82E23-F5D0-4BDB-AE1B-9EA272B9EDCE}" destId="{14D01663-3CBD-E240-BC95-8009CE68DF06}" srcOrd="0" destOrd="0" presId="urn:microsoft.com/office/officeart/2008/layout/LinedList"/>
    <dgm:cxn modelId="{C2015020-2189-454C-A96D-F3D17F11DFD1}" srcId="{DBCC1F4C-860C-46C8-8ADF-BD2595BAFBA4}" destId="{FC1AF813-9FCD-4408-9E3C-28567CD20347}" srcOrd="1" destOrd="0" parTransId="{09780CE2-3EE8-41D5-B2E5-655F2077A02F}" sibTransId="{FAB25DF0-A6AE-4625-AB0F-E1AFC3337D99}"/>
    <dgm:cxn modelId="{E3663B23-9B86-2F44-B4BA-0064EEB2F920}" type="presOf" srcId="{DBCC1F4C-860C-46C8-8ADF-BD2595BAFBA4}" destId="{B17A9697-0A31-C545-B30E-122594BE9B7F}" srcOrd="0" destOrd="0" presId="urn:microsoft.com/office/officeart/2008/layout/LinedList"/>
    <dgm:cxn modelId="{3C7E7B31-1DCC-CD4E-B4F7-D1BF08B3D7C1}" type="presOf" srcId="{302CF502-B01D-4F94-9E2D-F88A6479CB6F}" destId="{2203298B-F840-7E45-8E71-31A3D76CA31A}" srcOrd="0" destOrd="0" presId="urn:microsoft.com/office/officeart/2008/layout/LinedList"/>
    <dgm:cxn modelId="{F7448A37-7F31-4928-A085-F9A6D3AEA70C}" srcId="{DBCC1F4C-860C-46C8-8ADF-BD2595BAFBA4}" destId="{1C3910BF-EFA4-40C4-9049-20262786DB50}" srcOrd="5" destOrd="0" parTransId="{31AD547E-3FF8-4397-A29C-E67E3473DDBA}" sibTransId="{79F9F545-3D40-44A9-A5D0-F5D1DAF6AEC6}"/>
    <dgm:cxn modelId="{92559D85-C41D-504C-89FF-C705D81FAD76}" type="presOf" srcId="{743DCAFB-BDF4-4E45-958A-90AF480BF5B2}" destId="{A3103E3C-8D3E-3642-9F0A-D61208C84A9E}" srcOrd="0" destOrd="0" presId="urn:microsoft.com/office/officeart/2008/layout/LinedList"/>
    <dgm:cxn modelId="{D46AA995-DB7D-443C-80A9-19100DBF84E2}" srcId="{DBCC1F4C-860C-46C8-8ADF-BD2595BAFBA4}" destId="{302CF502-B01D-4F94-9E2D-F88A6479CB6F}" srcOrd="3" destOrd="0" parTransId="{781BD01A-ADEA-497C-9B70-EE6072DAFD23}" sibTransId="{DAB45906-37E7-4320-8117-D041DF88B345}"/>
    <dgm:cxn modelId="{8787CB97-F1AB-4142-B4BE-7AA3657555F7}" srcId="{DBCC1F4C-860C-46C8-8ADF-BD2595BAFBA4}" destId="{6AD82E23-F5D0-4BDB-AE1B-9EA272B9EDCE}" srcOrd="2" destOrd="0" parTransId="{B493E90D-14F2-4A30-B511-7F5864574F34}" sibTransId="{6E8C2996-C7AE-44F1-8B6F-38BB4CAEB87E}"/>
    <dgm:cxn modelId="{FADA74AA-0778-ED42-A540-D34A23D898BC}" type="presOf" srcId="{FC1AF813-9FCD-4408-9E3C-28567CD20347}" destId="{9DF0D5B0-9F5A-0B4D-A7D2-7081A1DCFA97}" srcOrd="0" destOrd="0" presId="urn:microsoft.com/office/officeart/2008/layout/LinedList"/>
    <dgm:cxn modelId="{45EE21AD-5A12-F54A-A11C-0CBB500BAE70}" type="presOf" srcId="{1C3910BF-EFA4-40C4-9049-20262786DB50}" destId="{11993EC3-4312-F647-94F9-04558FEE2677}" srcOrd="0" destOrd="0" presId="urn:microsoft.com/office/officeart/2008/layout/LinedList"/>
    <dgm:cxn modelId="{88A0B5CE-3493-FA4E-B37C-6CF023DC5BF2}" type="presOf" srcId="{4561DA9A-EE35-40D5-86C7-E4DFFF0B9D3E}" destId="{307DF388-C2B0-6140-AF03-1863F710716F}" srcOrd="0" destOrd="0" presId="urn:microsoft.com/office/officeart/2008/layout/LinedList"/>
    <dgm:cxn modelId="{14198ED0-5DA3-4221-A1E6-6E56F3607715}" srcId="{DBCC1F4C-860C-46C8-8ADF-BD2595BAFBA4}" destId="{4561DA9A-EE35-40D5-86C7-E4DFFF0B9D3E}" srcOrd="4" destOrd="0" parTransId="{D359EAE9-3F3A-44A6-B35B-EF316750487B}" sibTransId="{66A15B23-2A51-418C-A397-85DF15B77CFB}"/>
    <dgm:cxn modelId="{A27490FD-7AD5-4150-8E87-B6AF653FFB2B}" srcId="{DBCC1F4C-860C-46C8-8ADF-BD2595BAFBA4}" destId="{743DCAFB-BDF4-4E45-958A-90AF480BF5B2}" srcOrd="0" destOrd="0" parTransId="{BC3B4A38-3391-4E4F-96C9-73BA67E8F836}" sibTransId="{8F043BB5-8776-4301-B3FC-21A835AED3C9}"/>
    <dgm:cxn modelId="{FD4A7FD9-B475-554F-AC11-BAB2367185E5}" type="presParOf" srcId="{B17A9697-0A31-C545-B30E-122594BE9B7F}" destId="{1627A0DE-055C-9146-BD0E-4CCC2FFBA230}" srcOrd="0" destOrd="0" presId="urn:microsoft.com/office/officeart/2008/layout/LinedList"/>
    <dgm:cxn modelId="{136952A9-D0D3-594B-BE37-276B6E0BFA9D}" type="presParOf" srcId="{B17A9697-0A31-C545-B30E-122594BE9B7F}" destId="{3B1BEE50-9B54-DF4F-888C-46EC0D0FB40A}" srcOrd="1" destOrd="0" presId="urn:microsoft.com/office/officeart/2008/layout/LinedList"/>
    <dgm:cxn modelId="{862BD7CE-8725-024B-810A-8B82764DCE0C}" type="presParOf" srcId="{3B1BEE50-9B54-DF4F-888C-46EC0D0FB40A}" destId="{A3103E3C-8D3E-3642-9F0A-D61208C84A9E}" srcOrd="0" destOrd="0" presId="urn:microsoft.com/office/officeart/2008/layout/LinedList"/>
    <dgm:cxn modelId="{2310831A-F304-AC48-BB9A-560C055F6389}" type="presParOf" srcId="{3B1BEE50-9B54-DF4F-888C-46EC0D0FB40A}" destId="{21E82EF3-6041-C249-9FA8-40DBE2CDAC68}" srcOrd="1" destOrd="0" presId="urn:microsoft.com/office/officeart/2008/layout/LinedList"/>
    <dgm:cxn modelId="{9AB50C53-E224-B74B-97E5-31C2603BB6D9}" type="presParOf" srcId="{B17A9697-0A31-C545-B30E-122594BE9B7F}" destId="{66D3D53B-2172-0C4A-8C32-FB82742AB3D1}" srcOrd="2" destOrd="0" presId="urn:microsoft.com/office/officeart/2008/layout/LinedList"/>
    <dgm:cxn modelId="{E230B920-2BE2-F04A-96BF-BB3233A19F3B}" type="presParOf" srcId="{B17A9697-0A31-C545-B30E-122594BE9B7F}" destId="{BCDBA032-C393-9B4F-9C5E-84F49638A0DD}" srcOrd="3" destOrd="0" presId="urn:microsoft.com/office/officeart/2008/layout/LinedList"/>
    <dgm:cxn modelId="{A3C8999F-9B70-4048-8AB4-131429C708AF}" type="presParOf" srcId="{BCDBA032-C393-9B4F-9C5E-84F49638A0DD}" destId="{9DF0D5B0-9F5A-0B4D-A7D2-7081A1DCFA97}" srcOrd="0" destOrd="0" presId="urn:microsoft.com/office/officeart/2008/layout/LinedList"/>
    <dgm:cxn modelId="{2B242F95-F74E-E045-BA15-D749D98229BF}" type="presParOf" srcId="{BCDBA032-C393-9B4F-9C5E-84F49638A0DD}" destId="{296E47B1-1E64-C64B-ACB4-631C24DD1C27}" srcOrd="1" destOrd="0" presId="urn:microsoft.com/office/officeart/2008/layout/LinedList"/>
    <dgm:cxn modelId="{3A02D9A8-CC28-D543-953B-DCE1CD7D7424}" type="presParOf" srcId="{B17A9697-0A31-C545-B30E-122594BE9B7F}" destId="{5015F684-F0E9-6C47-A531-2B27BBD99E10}" srcOrd="4" destOrd="0" presId="urn:microsoft.com/office/officeart/2008/layout/LinedList"/>
    <dgm:cxn modelId="{0B3643AF-920F-214A-8AB9-7F0AECAE5178}" type="presParOf" srcId="{B17A9697-0A31-C545-B30E-122594BE9B7F}" destId="{52B269CE-C1BC-5C4C-9E7B-5F401F5400DC}" srcOrd="5" destOrd="0" presId="urn:microsoft.com/office/officeart/2008/layout/LinedList"/>
    <dgm:cxn modelId="{64C315A0-E2B9-A740-8D96-CD3610B6C080}" type="presParOf" srcId="{52B269CE-C1BC-5C4C-9E7B-5F401F5400DC}" destId="{14D01663-3CBD-E240-BC95-8009CE68DF06}" srcOrd="0" destOrd="0" presId="urn:microsoft.com/office/officeart/2008/layout/LinedList"/>
    <dgm:cxn modelId="{A891CF6D-C540-7747-B7F0-468736F2AEF8}" type="presParOf" srcId="{52B269CE-C1BC-5C4C-9E7B-5F401F5400DC}" destId="{7BE61705-8BDA-8443-A72F-FBE0769CD18F}" srcOrd="1" destOrd="0" presId="urn:microsoft.com/office/officeart/2008/layout/LinedList"/>
    <dgm:cxn modelId="{32F4242E-8F9F-EA4B-B6F3-7C54AEA427EE}" type="presParOf" srcId="{B17A9697-0A31-C545-B30E-122594BE9B7F}" destId="{CB946253-E040-E74A-BC6A-6C2155B97C1E}" srcOrd="6" destOrd="0" presId="urn:microsoft.com/office/officeart/2008/layout/LinedList"/>
    <dgm:cxn modelId="{D02A8B66-6055-5547-BA69-BB907415EFD6}" type="presParOf" srcId="{B17A9697-0A31-C545-B30E-122594BE9B7F}" destId="{B34F8D19-5005-1047-9E31-F57F28C8D98F}" srcOrd="7" destOrd="0" presId="urn:microsoft.com/office/officeart/2008/layout/LinedList"/>
    <dgm:cxn modelId="{75508EF8-56A8-A649-A38C-3689F3589BA5}" type="presParOf" srcId="{B34F8D19-5005-1047-9E31-F57F28C8D98F}" destId="{2203298B-F840-7E45-8E71-31A3D76CA31A}" srcOrd="0" destOrd="0" presId="urn:microsoft.com/office/officeart/2008/layout/LinedList"/>
    <dgm:cxn modelId="{959A8973-205B-2140-8B41-195868808655}" type="presParOf" srcId="{B34F8D19-5005-1047-9E31-F57F28C8D98F}" destId="{44524936-4D3B-0B4D-9544-B8EC6E87FE09}" srcOrd="1" destOrd="0" presId="urn:microsoft.com/office/officeart/2008/layout/LinedList"/>
    <dgm:cxn modelId="{CB090842-4E7E-CC4D-8C1E-5185B9F928F9}" type="presParOf" srcId="{B17A9697-0A31-C545-B30E-122594BE9B7F}" destId="{B09523A9-F8F8-244E-80AB-AC079DE194BB}" srcOrd="8" destOrd="0" presId="urn:microsoft.com/office/officeart/2008/layout/LinedList"/>
    <dgm:cxn modelId="{4EE97DF7-0CED-6042-83D5-51E6270D1ABC}" type="presParOf" srcId="{B17A9697-0A31-C545-B30E-122594BE9B7F}" destId="{D9CFE02B-2CCD-2848-8C2D-25C8CF8AA900}" srcOrd="9" destOrd="0" presId="urn:microsoft.com/office/officeart/2008/layout/LinedList"/>
    <dgm:cxn modelId="{D8150FAF-766D-F249-918D-4EAF625A9D1F}" type="presParOf" srcId="{D9CFE02B-2CCD-2848-8C2D-25C8CF8AA900}" destId="{307DF388-C2B0-6140-AF03-1863F710716F}" srcOrd="0" destOrd="0" presId="urn:microsoft.com/office/officeart/2008/layout/LinedList"/>
    <dgm:cxn modelId="{9A163003-5777-D242-B2AC-FE92FC45F1CA}" type="presParOf" srcId="{D9CFE02B-2CCD-2848-8C2D-25C8CF8AA900}" destId="{68CB6DEE-35AF-D84D-A0D6-05C9FAB1AC17}" srcOrd="1" destOrd="0" presId="urn:microsoft.com/office/officeart/2008/layout/LinedList"/>
    <dgm:cxn modelId="{2D5A37A5-87CF-9949-8A89-83D291A3B7DB}" type="presParOf" srcId="{B17A9697-0A31-C545-B30E-122594BE9B7F}" destId="{B19D6816-FF87-064B-9E47-644FF8DB1A10}" srcOrd="10" destOrd="0" presId="urn:microsoft.com/office/officeart/2008/layout/LinedList"/>
    <dgm:cxn modelId="{0E5E6FD2-8A95-A644-B3FE-3264405AEAB4}" type="presParOf" srcId="{B17A9697-0A31-C545-B30E-122594BE9B7F}" destId="{AA3D6553-D749-664C-98C4-33EF8C4AD8C7}" srcOrd="11" destOrd="0" presId="urn:microsoft.com/office/officeart/2008/layout/LinedList"/>
    <dgm:cxn modelId="{F8CC6845-5C29-BA48-A091-441D4ED62859}" type="presParOf" srcId="{AA3D6553-D749-664C-98C4-33EF8C4AD8C7}" destId="{11993EC3-4312-F647-94F9-04558FEE2677}" srcOrd="0" destOrd="0" presId="urn:microsoft.com/office/officeart/2008/layout/LinedList"/>
    <dgm:cxn modelId="{53A28A04-35AB-9A48-B649-DEC877F423FD}" type="presParOf" srcId="{AA3D6553-D749-664C-98C4-33EF8C4AD8C7}" destId="{7BA331EA-E92B-8841-9943-0D5807A7623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27A0DE-055C-9146-BD0E-4CCC2FFBA230}">
      <dsp:nvSpPr>
        <dsp:cNvPr id="0" name=""/>
        <dsp:cNvSpPr/>
      </dsp:nvSpPr>
      <dsp:spPr>
        <a:xfrm>
          <a:off x="0" y="2325"/>
          <a:ext cx="788042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103E3C-8D3E-3642-9F0A-D61208C84A9E}">
      <dsp:nvSpPr>
        <dsp:cNvPr id="0" name=""/>
        <dsp:cNvSpPr/>
      </dsp:nvSpPr>
      <dsp:spPr>
        <a:xfrm>
          <a:off x="0" y="2325"/>
          <a:ext cx="7880423" cy="79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SPY Holdings</a:t>
          </a:r>
        </a:p>
      </dsp:txBody>
      <dsp:txXfrm>
        <a:off x="0" y="2325"/>
        <a:ext cx="7880423" cy="792932"/>
      </dsp:txXfrm>
    </dsp:sp>
    <dsp:sp modelId="{66D3D53B-2172-0C4A-8C32-FB82742AB3D1}">
      <dsp:nvSpPr>
        <dsp:cNvPr id="0" name=""/>
        <dsp:cNvSpPr/>
      </dsp:nvSpPr>
      <dsp:spPr>
        <a:xfrm>
          <a:off x="0" y="795257"/>
          <a:ext cx="7880423" cy="0"/>
        </a:xfrm>
        <a:prstGeom prst="line">
          <a:avLst/>
        </a:prstGeom>
        <a:solidFill>
          <a:schemeClr val="accent2">
            <a:hueOff val="-299075"/>
            <a:satOff val="-93"/>
            <a:lumOff val="1412"/>
            <a:alphaOff val="0"/>
          </a:schemeClr>
        </a:solidFill>
        <a:ln w="12700" cap="flat" cmpd="sng" algn="ctr">
          <a:solidFill>
            <a:schemeClr val="accent2">
              <a:hueOff val="-299075"/>
              <a:satOff val="-93"/>
              <a:lumOff val="1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F0D5B0-9F5A-0B4D-A7D2-7081A1DCFA97}">
      <dsp:nvSpPr>
        <dsp:cNvPr id="0" name=""/>
        <dsp:cNvSpPr/>
      </dsp:nvSpPr>
      <dsp:spPr>
        <a:xfrm>
          <a:off x="0" y="795257"/>
          <a:ext cx="7880423" cy="79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Patterns and Trends in Historical Return</a:t>
          </a:r>
        </a:p>
      </dsp:txBody>
      <dsp:txXfrm>
        <a:off x="0" y="795257"/>
        <a:ext cx="7880423" cy="792932"/>
      </dsp:txXfrm>
    </dsp:sp>
    <dsp:sp modelId="{5015F684-F0E9-6C47-A531-2B27BBD99E10}">
      <dsp:nvSpPr>
        <dsp:cNvPr id="0" name=""/>
        <dsp:cNvSpPr/>
      </dsp:nvSpPr>
      <dsp:spPr>
        <a:xfrm>
          <a:off x="0" y="1588189"/>
          <a:ext cx="7880423" cy="0"/>
        </a:xfrm>
        <a:prstGeom prst="line">
          <a:avLst/>
        </a:prstGeom>
        <a:solidFill>
          <a:schemeClr val="accent2">
            <a:hueOff val="-598149"/>
            <a:satOff val="-185"/>
            <a:lumOff val="2824"/>
            <a:alphaOff val="0"/>
          </a:schemeClr>
        </a:solidFill>
        <a:ln w="12700" cap="flat" cmpd="sng" algn="ctr">
          <a:solidFill>
            <a:schemeClr val="accent2">
              <a:hueOff val="-598149"/>
              <a:satOff val="-185"/>
              <a:lumOff val="28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D01663-3CBD-E240-BC95-8009CE68DF06}">
      <dsp:nvSpPr>
        <dsp:cNvPr id="0" name=""/>
        <dsp:cNvSpPr/>
      </dsp:nvSpPr>
      <dsp:spPr>
        <a:xfrm>
          <a:off x="0" y="1588189"/>
          <a:ext cx="7880423" cy="79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Model Evaluation</a:t>
          </a:r>
        </a:p>
      </dsp:txBody>
      <dsp:txXfrm>
        <a:off x="0" y="1588189"/>
        <a:ext cx="7880423" cy="792932"/>
      </dsp:txXfrm>
    </dsp:sp>
    <dsp:sp modelId="{CB946253-E040-E74A-BC6A-6C2155B97C1E}">
      <dsp:nvSpPr>
        <dsp:cNvPr id="0" name=""/>
        <dsp:cNvSpPr/>
      </dsp:nvSpPr>
      <dsp:spPr>
        <a:xfrm>
          <a:off x="0" y="2381121"/>
          <a:ext cx="7880423" cy="0"/>
        </a:xfrm>
        <a:prstGeom prst="line">
          <a:avLst/>
        </a:prstGeom>
        <a:solidFill>
          <a:schemeClr val="accent2">
            <a:hueOff val="-897224"/>
            <a:satOff val="-278"/>
            <a:lumOff val="4235"/>
            <a:alphaOff val="0"/>
          </a:schemeClr>
        </a:solidFill>
        <a:ln w="12700" cap="flat" cmpd="sng" algn="ctr">
          <a:solidFill>
            <a:schemeClr val="accent2">
              <a:hueOff val="-897224"/>
              <a:satOff val="-278"/>
              <a:lumOff val="42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03298B-F840-7E45-8E71-31A3D76CA31A}">
      <dsp:nvSpPr>
        <dsp:cNvPr id="0" name=""/>
        <dsp:cNvSpPr/>
      </dsp:nvSpPr>
      <dsp:spPr>
        <a:xfrm>
          <a:off x="0" y="2381121"/>
          <a:ext cx="7880423" cy="79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Forecast return</a:t>
          </a:r>
        </a:p>
      </dsp:txBody>
      <dsp:txXfrm>
        <a:off x="0" y="2381121"/>
        <a:ext cx="7880423" cy="792932"/>
      </dsp:txXfrm>
    </dsp:sp>
    <dsp:sp modelId="{B09523A9-F8F8-244E-80AB-AC079DE194BB}">
      <dsp:nvSpPr>
        <dsp:cNvPr id="0" name=""/>
        <dsp:cNvSpPr/>
      </dsp:nvSpPr>
      <dsp:spPr>
        <a:xfrm>
          <a:off x="0" y="3174053"/>
          <a:ext cx="7880423" cy="0"/>
        </a:xfrm>
        <a:prstGeom prst="line">
          <a:avLst/>
        </a:prstGeom>
        <a:solidFill>
          <a:schemeClr val="accent2">
            <a:hueOff val="-1196298"/>
            <a:satOff val="-370"/>
            <a:lumOff val="5647"/>
            <a:alphaOff val="0"/>
          </a:schemeClr>
        </a:solidFill>
        <a:ln w="12700" cap="flat" cmpd="sng" algn="ctr">
          <a:solidFill>
            <a:schemeClr val="accent2">
              <a:hueOff val="-1196298"/>
              <a:satOff val="-370"/>
              <a:lumOff val="564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7DF388-C2B0-6140-AF03-1863F710716F}">
      <dsp:nvSpPr>
        <dsp:cNvPr id="0" name=""/>
        <dsp:cNvSpPr/>
      </dsp:nvSpPr>
      <dsp:spPr>
        <a:xfrm>
          <a:off x="0" y="3174053"/>
          <a:ext cx="7880423" cy="79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Summary</a:t>
          </a:r>
        </a:p>
      </dsp:txBody>
      <dsp:txXfrm>
        <a:off x="0" y="3174053"/>
        <a:ext cx="7880423" cy="792932"/>
      </dsp:txXfrm>
    </dsp:sp>
    <dsp:sp modelId="{B19D6816-FF87-064B-9E47-644FF8DB1A10}">
      <dsp:nvSpPr>
        <dsp:cNvPr id="0" name=""/>
        <dsp:cNvSpPr/>
      </dsp:nvSpPr>
      <dsp:spPr>
        <a:xfrm>
          <a:off x="0" y="3966985"/>
          <a:ext cx="7880423" cy="0"/>
        </a:xfrm>
        <a:prstGeom prst="line">
          <a:avLst/>
        </a:prstGeom>
        <a:solidFill>
          <a:schemeClr val="accent2">
            <a:hueOff val="-1495373"/>
            <a:satOff val="-463"/>
            <a:lumOff val="7059"/>
            <a:alphaOff val="0"/>
          </a:schemeClr>
        </a:solidFill>
        <a:ln w="12700" cap="flat" cmpd="sng" algn="ctr">
          <a:solidFill>
            <a:schemeClr val="accent2">
              <a:hueOff val="-1495373"/>
              <a:satOff val="-463"/>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993EC3-4312-F647-94F9-04558FEE2677}">
      <dsp:nvSpPr>
        <dsp:cNvPr id="0" name=""/>
        <dsp:cNvSpPr/>
      </dsp:nvSpPr>
      <dsp:spPr>
        <a:xfrm>
          <a:off x="0" y="3966985"/>
          <a:ext cx="7880423" cy="79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Conclusion</a:t>
          </a:r>
        </a:p>
      </dsp:txBody>
      <dsp:txXfrm>
        <a:off x="0" y="3966985"/>
        <a:ext cx="7880423" cy="79293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043A86-4CF2-144B-9980-3C0309516EF7}" type="datetimeFigureOut">
              <a:rPr lang="en-US" smtClean="0"/>
              <a:t>8/10/23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B227ED-1AC8-D642-84B1-FF9969622127}" type="slidenum">
              <a:rPr lang="en-US" smtClean="0"/>
              <a:t>‹#›</a:t>
            </a:fld>
            <a:endParaRPr lang="en-US"/>
          </a:p>
        </p:txBody>
      </p:sp>
    </p:spTree>
    <p:extLst>
      <p:ext uri="{BB962C8B-B14F-4D97-AF65-F5344CB8AC3E}">
        <p14:creationId xmlns:p14="http://schemas.microsoft.com/office/powerpoint/2010/main" val="73916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B227ED-1AC8-D642-84B1-FF9969622127}" type="slidenum">
              <a:rPr lang="en-US" smtClean="0"/>
              <a:t>1</a:t>
            </a:fld>
            <a:endParaRPr lang="en-US"/>
          </a:p>
        </p:txBody>
      </p:sp>
    </p:spTree>
    <p:extLst>
      <p:ext uri="{BB962C8B-B14F-4D97-AF65-F5344CB8AC3E}">
        <p14:creationId xmlns:p14="http://schemas.microsoft.com/office/powerpoint/2010/main" val="1998909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B227ED-1AC8-D642-84B1-FF9969622127}" type="slidenum">
              <a:rPr lang="en-US" smtClean="0"/>
              <a:t>4</a:t>
            </a:fld>
            <a:endParaRPr lang="en-US"/>
          </a:p>
        </p:txBody>
      </p:sp>
    </p:spTree>
    <p:extLst>
      <p:ext uri="{BB962C8B-B14F-4D97-AF65-F5344CB8AC3E}">
        <p14:creationId xmlns:p14="http://schemas.microsoft.com/office/powerpoint/2010/main" val="2160960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B227ED-1AC8-D642-84B1-FF9969622127}" type="slidenum">
              <a:rPr lang="en-US" smtClean="0"/>
              <a:t>5</a:t>
            </a:fld>
            <a:endParaRPr lang="en-US"/>
          </a:p>
        </p:txBody>
      </p:sp>
    </p:spTree>
    <p:extLst>
      <p:ext uri="{BB962C8B-B14F-4D97-AF65-F5344CB8AC3E}">
        <p14:creationId xmlns:p14="http://schemas.microsoft.com/office/powerpoint/2010/main" val="17106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61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2012127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5219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1767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991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3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2905724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3427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9704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670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fld id="{1C8322F6-1C60-46CF-968C-BC20E470F443}" type="datetimeFigureOut">
              <a:rPr lang="en-US" smtClean="0"/>
              <a:t>8/10/23</a:t>
            </a:fld>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2288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fld id="{1C8322F6-1C60-46CF-968C-BC20E470F443}" type="datetimeFigureOut">
              <a:rPr lang="en-US" smtClean="0"/>
              <a:t>8/10/23</a:t>
            </a:fld>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71352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3AB9E1-499E-41EB-A74E-905920CCD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2" y="0"/>
            <a:ext cx="121987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CE7036-FE56-B419-6D83-DC79A8FC9D94}"/>
              </a:ext>
            </a:extLst>
          </p:cNvPr>
          <p:cNvSpPr>
            <a:spLocks noGrp="1"/>
          </p:cNvSpPr>
          <p:nvPr>
            <p:ph type="ctrTitle"/>
          </p:nvPr>
        </p:nvSpPr>
        <p:spPr>
          <a:xfrm>
            <a:off x="520601" y="4840264"/>
            <a:ext cx="8044280" cy="1215547"/>
          </a:xfrm>
        </p:spPr>
        <p:txBody>
          <a:bodyPr anchor="ctr">
            <a:normAutofit/>
          </a:bodyPr>
          <a:lstStyle/>
          <a:p>
            <a:r>
              <a:rPr lang="en-US" dirty="0"/>
              <a:t>Regression Analysis</a:t>
            </a:r>
          </a:p>
        </p:txBody>
      </p:sp>
      <p:sp>
        <p:nvSpPr>
          <p:cNvPr id="3" name="Subtitle 2">
            <a:extLst>
              <a:ext uri="{FF2B5EF4-FFF2-40B4-BE49-F238E27FC236}">
                <a16:creationId xmlns:a16="http://schemas.microsoft.com/office/drawing/2014/main" id="{34AACE0E-AC77-8AB0-BCA9-E1D37E970A51}"/>
              </a:ext>
            </a:extLst>
          </p:cNvPr>
          <p:cNvSpPr>
            <a:spLocks noGrp="1"/>
          </p:cNvSpPr>
          <p:nvPr>
            <p:ph type="subTitle" idx="1"/>
          </p:nvPr>
        </p:nvSpPr>
        <p:spPr>
          <a:xfrm>
            <a:off x="9189720" y="4753342"/>
            <a:ext cx="2519973" cy="1389390"/>
          </a:xfrm>
        </p:spPr>
        <p:txBody>
          <a:bodyPr anchor="ctr">
            <a:normAutofit/>
          </a:bodyPr>
          <a:lstStyle/>
          <a:p>
            <a:r>
              <a:rPr lang="en-US" dirty="0"/>
              <a:t>SPY - AMZN</a:t>
            </a:r>
          </a:p>
          <a:p>
            <a:endParaRPr lang="en-US" dirty="0"/>
          </a:p>
          <a:p>
            <a:r>
              <a:rPr lang="en-US" dirty="0"/>
              <a:t>By </a:t>
            </a:r>
            <a:r>
              <a:rPr lang="en-US" dirty="0" err="1"/>
              <a:t>Paulami</a:t>
            </a:r>
            <a:r>
              <a:rPr lang="en-US" dirty="0"/>
              <a:t> Patil</a:t>
            </a:r>
          </a:p>
        </p:txBody>
      </p:sp>
      <p:pic>
        <p:nvPicPr>
          <p:cNvPr id="5" name="Picture 3">
            <a:extLst>
              <a:ext uri="{FF2B5EF4-FFF2-40B4-BE49-F238E27FC236}">
                <a16:creationId xmlns:a16="http://schemas.microsoft.com/office/drawing/2014/main" id="{2F867576-9DAF-42E6-C1AF-B82E9A835DF1}"/>
              </a:ext>
            </a:extLst>
          </p:cNvPr>
          <p:cNvPicPr>
            <a:picLocks noChangeAspect="1"/>
          </p:cNvPicPr>
          <p:nvPr/>
        </p:nvPicPr>
        <p:blipFill rotWithShape="1">
          <a:blip r:embed="rId3"/>
          <a:srcRect t="16869" b="32926"/>
          <a:stretch/>
        </p:blipFill>
        <p:spPr>
          <a:xfrm>
            <a:off x="-6781" y="1"/>
            <a:ext cx="12198782" cy="4042122"/>
          </a:xfrm>
          <a:prstGeom prst="rect">
            <a:avLst/>
          </a:prstGeom>
        </p:spPr>
      </p:pic>
      <p:cxnSp>
        <p:nvCxnSpPr>
          <p:cNvPr id="11" name="Straight Connector 10">
            <a:extLst>
              <a:ext uri="{FF2B5EF4-FFF2-40B4-BE49-F238E27FC236}">
                <a16:creationId xmlns:a16="http://schemas.microsoft.com/office/drawing/2014/main" id="{CEEA40C4-6B9E-4B9E-8CDF-A0C572462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5869" y="4610607"/>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A54810C-5CC0-45D3-BD8F-C4407F92F5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7300" y="4610607"/>
            <a:ext cx="0" cy="1674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E458AAC-F667-498F-A263-A8C7AB4FC9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1819" y="6289514"/>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1590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0B1846-6CE5-47AE-B0D0-7202A39CE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F95E52-CF97-7DA7-B5D0-CC19A2187B2C}"/>
              </a:ext>
            </a:extLst>
          </p:cNvPr>
          <p:cNvSpPr>
            <a:spLocks noGrp="1"/>
          </p:cNvSpPr>
          <p:nvPr>
            <p:ph type="title"/>
          </p:nvPr>
        </p:nvSpPr>
        <p:spPr>
          <a:xfrm>
            <a:off x="521208" y="822960"/>
            <a:ext cx="2483246" cy="5296270"/>
          </a:xfrm>
        </p:spPr>
        <p:txBody>
          <a:bodyPr anchor="t">
            <a:normAutofit/>
          </a:bodyPr>
          <a:lstStyle/>
          <a:p>
            <a:r>
              <a:rPr lang="en-US" dirty="0"/>
              <a:t>Content</a:t>
            </a:r>
          </a:p>
        </p:txBody>
      </p:sp>
      <p:cxnSp>
        <p:nvCxnSpPr>
          <p:cNvPr id="12" name="Straight Connector 11">
            <a:extLst>
              <a:ext uri="{FF2B5EF4-FFF2-40B4-BE49-F238E27FC236}">
                <a16:creationId xmlns:a16="http://schemas.microsoft.com/office/drawing/2014/main" id="{4B706659-8817-44F5-87F5-B7804F1CBE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1" y="6286500"/>
            <a:ext cx="110489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7E0E66-59D6-4A3A-B1A2-84B9078432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14700"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64F6F91-27E3-4BF5-9BD7-E5923D27CC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1" y="571500"/>
            <a:ext cx="110489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51BA519-B956-55D0-034D-C8A34B0C0B94}"/>
              </a:ext>
            </a:extLst>
          </p:cNvPr>
          <p:cNvGraphicFramePr>
            <a:graphicFrameLocks noGrp="1"/>
          </p:cNvGraphicFramePr>
          <p:nvPr>
            <p:ph idx="1"/>
            <p:extLst>
              <p:ext uri="{D42A27DB-BD31-4B8C-83A1-F6EECF244321}">
                <p14:modId xmlns:p14="http://schemas.microsoft.com/office/powerpoint/2010/main" val="4281475679"/>
              </p:ext>
            </p:extLst>
          </p:nvPr>
        </p:nvGraphicFramePr>
        <p:xfrm>
          <a:off x="3751189" y="1061686"/>
          <a:ext cx="7880423" cy="47622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1824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27E58-7D61-0B03-A1F4-42EDF35DF320}"/>
              </a:ext>
            </a:extLst>
          </p:cNvPr>
          <p:cNvSpPr>
            <a:spLocks noGrp="1"/>
          </p:cNvSpPr>
          <p:nvPr>
            <p:ph type="title"/>
          </p:nvPr>
        </p:nvSpPr>
        <p:spPr/>
        <p:txBody>
          <a:bodyPr/>
          <a:lstStyle/>
          <a:p>
            <a:r>
              <a:rPr lang="en-US" dirty="0"/>
              <a:t>SPY Holdings</a:t>
            </a:r>
          </a:p>
        </p:txBody>
      </p:sp>
      <p:graphicFrame>
        <p:nvGraphicFramePr>
          <p:cNvPr id="4" name="Content Placeholder 3">
            <a:extLst>
              <a:ext uri="{FF2B5EF4-FFF2-40B4-BE49-F238E27FC236}">
                <a16:creationId xmlns:a16="http://schemas.microsoft.com/office/drawing/2014/main" id="{4A4D4905-62DF-42A2-B269-ACB33571E009}"/>
              </a:ext>
            </a:extLst>
          </p:cNvPr>
          <p:cNvGraphicFramePr>
            <a:graphicFrameLocks noGrp="1"/>
          </p:cNvGraphicFramePr>
          <p:nvPr>
            <p:ph idx="1"/>
            <p:extLst>
              <p:ext uri="{D42A27DB-BD31-4B8C-83A1-F6EECF244321}">
                <p14:modId xmlns:p14="http://schemas.microsoft.com/office/powerpoint/2010/main" val="3428014170"/>
              </p:ext>
            </p:extLst>
          </p:nvPr>
        </p:nvGraphicFramePr>
        <p:xfrm>
          <a:off x="6450676" y="1895302"/>
          <a:ext cx="5332857" cy="427340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id="{DD06D552-1667-932C-DDAE-68DA85FB90B8}"/>
              </a:ext>
            </a:extLst>
          </p:cNvPr>
          <p:cNvGraphicFramePr>
            <a:graphicFrameLocks noGrp="1"/>
          </p:cNvGraphicFramePr>
          <p:nvPr>
            <p:extLst>
              <p:ext uri="{D42A27DB-BD31-4B8C-83A1-F6EECF244321}">
                <p14:modId xmlns:p14="http://schemas.microsoft.com/office/powerpoint/2010/main" val="2097326759"/>
              </p:ext>
            </p:extLst>
          </p:nvPr>
        </p:nvGraphicFramePr>
        <p:xfrm>
          <a:off x="571500" y="2076447"/>
          <a:ext cx="5042491" cy="3910016"/>
        </p:xfrm>
        <a:graphic>
          <a:graphicData uri="http://schemas.openxmlformats.org/drawingml/2006/table">
            <a:tbl>
              <a:tblPr>
                <a:tableStyleId>{5C22544A-7EE6-4342-B048-85BDC9FD1C3A}</a:tableStyleId>
              </a:tblPr>
              <a:tblGrid>
                <a:gridCol w="3438062">
                  <a:extLst>
                    <a:ext uri="{9D8B030D-6E8A-4147-A177-3AD203B41FA5}">
                      <a16:colId xmlns:a16="http://schemas.microsoft.com/office/drawing/2014/main" val="2592924653"/>
                    </a:ext>
                  </a:extLst>
                </a:gridCol>
                <a:gridCol w="1604429">
                  <a:extLst>
                    <a:ext uri="{9D8B030D-6E8A-4147-A177-3AD203B41FA5}">
                      <a16:colId xmlns:a16="http://schemas.microsoft.com/office/drawing/2014/main" val="1464603884"/>
                    </a:ext>
                  </a:extLst>
                </a:gridCol>
              </a:tblGrid>
              <a:tr h="355456">
                <a:tc>
                  <a:txBody>
                    <a:bodyPr/>
                    <a:lstStyle/>
                    <a:p>
                      <a:pPr algn="ctr" fontAlgn="b"/>
                      <a:r>
                        <a:rPr lang="en-US" sz="1600" b="1" u="none" strike="noStrike" dirty="0">
                          <a:effectLst/>
                        </a:rPr>
                        <a:t>Name</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dirty="0">
                          <a:effectLst/>
                        </a:rPr>
                        <a:t>Ticker</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75946648"/>
                  </a:ext>
                </a:extLst>
              </a:tr>
              <a:tr h="355456">
                <a:tc>
                  <a:txBody>
                    <a:bodyPr/>
                    <a:lstStyle/>
                    <a:p>
                      <a:pPr algn="l" fontAlgn="b"/>
                      <a:r>
                        <a:rPr lang="en-US" sz="1100" u="none" strike="noStrike">
                          <a:effectLst/>
                        </a:rPr>
                        <a:t>APPLE INC</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AAPL</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21021914"/>
                  </a:ext>
                </a:extLst>
              </a:tr>
              <a:tr h="355456">
                <a:tc>
                  <a:txBody>
                    <a:bodyPr/>
                    <a:lstStyle/>
                    <a:p>
                      <a:pPr algn="l" fontAlgn="b"/>
                      <a:r>
                        <a:rPr lang="en-US" sz="1100" u="none" strike="noStrike">
                          <a:effectLst/>
                        </a:rPr>
                        <a:t>MICROSOFT CORP</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MSFT</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30851283"/>
                  </a:ext>
                </a:extLst>
              </a:tr>
              <a:tr h="355456">
                <a:tc>
                  <a:txBody>
                    <a:bodyPr/>
                    <a:lstStyle/>
                    <a:p>
                      <a:pPr algn="l" fontAlgn="b"/>
                      <a:r>
                        <a:rPr lang="en-US" sz="1100" u="none" strike="noStrike">
                          <a:effectLst/>
                        </a:rPr>
                        <a:t>AMAZON.COM INC</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AMZN</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49050665"/>
                  </a:ext>
                </a:extLst>
              </a:tr>
              <a:tr h="355456">
                <a:tc>
                  <a:txBody>
                    <a:bodyPr/>
                    <a:lstStyle/>
                    <a:p>
                      <a:pPr algn="l" fontAlgn="b"/>
                      <a:r>
                        <a:rPr lang="en-US" sz="1100" u="none" strike="noStrike">
                          <a:effectLst/>
                        </a:rPr>
                        <a:t>NVIDIA CORP</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NVDA</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74703668"/>
                  </a:ext>
                </a:extLst>
              </a:tr>
              <a:tr h="355456">
                <a:tc>
                  <a:txBody>
                    <a:bodyPr/>
                    <a:lstStyle/>
                    <a:p>
                      <a:pPr algn="l" fontAlgn="b"/>
                      <a:r>
                        <a:rPr lang="en-US" sz="1100" u="none" strike="noStrike" dirty="0">
                          <a:effectLst/>
                        </a:rPr>
                        <a:t>ALPHABET INC CL A</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GOOGL</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38926339"/>
                  </a:ext>
                </a:extLst>
              </a:tr>
              <a:tr h="355456">
                <a:tc>
                  <a:txBody>
                    <a:bodyPr/>
                    <a:lstStyle/>
                    <a:p>
                      <a:pPr algn="l" fontAlgn="b"/>
                      <a:r>
                        <a:rPr lang="en-US" sz="1100" u="none" strike="noStrike" dirty="0">
                          <a:effectLst/>
                        </a:rPr>
                        <a:t>META PLATFORMS INC CLASS A</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META</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59017706"/>
                  </a:ext>
                </a:extLst>
              </a:tr>
              <a:tr h="355456">
                <a:tc>
                  <a:txBody>
                    <a:bodyPr/>
                    <a:lstStyle/>
                    <a:p>
                      <a:pPr algn="l" fontAlgn="b"/>
                      <a:r>
                        <a:rPr lang="en-US" sz="1100" u="none" strike="noStrike">
                          <a:effectLst/>
                        </a:rPr>
                        <a:t>TESLA INC</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TSLA</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49020593"/>
                  </a:ext>
                </a:extLst>
              </a:tr>
              <a:tr h="355456">
                <a:tc>
                  <a:txBody>
                    <a:bodyPr/>
                    <a:lstStyle/>
                    <a:p>
                      <a:pPr algn="l" fontAlgn="b"/>
                      <a:r>
                        <a:rPr lang="en-US" sz="1100" u="none" strike="noStrike">
                          <a:effectLst/>
                        </a:rPr>
                        <a:t>ALPHABET INC CL C</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GOOG</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10861895"/>
                  </a:ext>
                </a:extLst>
              </a:tr>
              <a:tr h="355456">
                <a:tc>
                  <a:txBody>
                    <a:bodyPr/>
                    <a:lstStyle/>
                    <a:p>
                      <a:pPr algn="l" fontAlgn="b"/>
                      <a:r>
                        <a:rPr lang="en-US" sz="1100" u="none" strike="noStrike">
                          <a:effectLst/>
                        </a:rPr>
                        <a:t>BERKSHIRE HATHAWAY INC CL B</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BRK.B</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12723484"/>
                  </a:ext>
                </a:extLst>
              </a:tr>
              <a:tr h="355456">
                <a:tc>
                  <a:txBody>
                    <a:bodyPr/>
                    <a:lstStyle/>
                    <a:p>
                      <a:pPr algn="l" fontAlgn="b"/>
                      <a:r>
                        <a:rPr lang="en-US" sz="1100" u="none" strike="noStrike">
                          <a:effectLst/>
                        </a:rPr>
                        <a:t>UNITEDHEALTH GROUP INC</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UNH</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1407395"/>
                  </a:ext>
                </a:extLst>
              </a:tr>
            </a:tbl>
          </a:graphicData>
        </a:graphic>
      </p:graphicFrame>
    </p:spTree>
    <p:extLst>
      <p:ext uri="{BB962C8B-B14F-4D97-AF65-F5344CB8AC3E}">
        <p14:creationId xmlns:p14="http://schemas.microsoft.com/office/powerpoint/2010/main" val="3899389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0641D-B4C2-A14F-A9E9-92474A0CB273}"/>
              </a:ext>
            </a:extLst>
          </p:cNvPr>
          <p:cNvSpPr>
            <a:spLocks noGrp="1"/>
          </p:cNvSpPr>
          <p:nvPr>
            <p:ph type="title"/>
          </p:nvPr>
        </p:nvSpPr>
        <p:spPr/>
        <p:txBody>
          <a:bodyPr/>
          <a:lstStyle/>
          <a:p>
            <a:r>
              <a:rPr lang="en-US" dirty="0"/>
              <a:t>Historical Returns</a:t>
            </a:r>
          </a:p>
        </p:txBody>
      </p:sp>
      <p:graphicFrame>
        <p:nvGraphicFramePr>
          <p:cNvPr id="5" name="Chart 4">
            <a:extLst>
              <a:ext uri="{FF2B5EF4-FFF2-40B4-BE49-F238E27FC236}">
                <a16:creationId xmlns:a16="http://schemas.microsoft.com/office/drawing/2014/main" id="{BC0D068D-9756-92A1-EDFF-145190348718}"/>
              </a:ext>
            </a:extLst>
          </p:cNvPr>
          <p:cNvGraphicFramePr>
            <a:graphicFrameLocks/>
          </p:cNvGraphicFramePr>
          <p:nvPr>
            <p:extLst>
              <p:ext uri="{D42A27DB-BD31-4B8C-83A1-F6EECF244321}">
                <p14:modId xmlns:p14="http://schemas.microsoft.com/office/powerpoint/2010/main" val="4173836104"/>
              </p:ext>
            </p:extLst>
          </p:nvPr>
        </p:nvGraphicFramePr>
        <p:xfrm>
          <a:off x="5979038" y="2047258"/>
          <a:ext cx="5769936" cy="41804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F022825E-6F56-DD4B-B68C-472599D0219A}"/>
              </a:ext>
            </a:extLst>
          </p:cNvPr>
          <p:cNvGraphicFramePr>
            <a:graphicFrameLocks/>
          </p:cNvGraphicFramePr>
          <p:nvPr>
            <p:extLst>
              <p:ext uri="{D42A27DB-BD31-4B8C-83A1-F6EECF244321}">
                <p14:modId xmlns:p14="http://schemas.microsoft.com/office/powerpoint/2010/main" val="4158009990"/>
              </p:ext>
            </p:extLst>
          </p:nvPr>
        </p:nvGraphicFramePr>
        <p:xfrm>
          <a:off x="517230" y="2125563"/>
          <a:ext cx="5280660" cy="39109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16952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1F4F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07801C-86BC-4258-6610-5CFD447F515B}"/>
              </a:ext>
            </a:extLst>
          </p:cNvPr>
          <p:cNvSpPr>
            <a:spLocks noGrp="1"/>
          </p:cNvSpPr>
          <p:nvPr>
            <p:ph type="title"/>
          </p:nvPr>
        </p:nvSpPr>
        <p:spPr>
          <a:xfrm>
            <a:off x="521208" y="685491"/>
            <a:ext cx="11110427" cy="847984"/>
          </a:xfrm>
        </p:spPr>
        <p:txBody>
          <a:bodyPr anchor="ctr">
            <a:normAutofit/>
          </a:bodyPr>
          <a:lstStyle/>
          <a:p>
            <a:r>
              <a:rPr lang="en-US" dirty="0"/>
              <a:t>Model Evaluation</a:t>
            </a:r>
          </a:p>
        </p:txBody>
      </p:sp>
      <p:cxnSp>
        <p:nvCxnSpPr>
          <p:cNvPr id="11" name="Straight Connector 10">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7217907-05FA-8EDD-3812-4495B5097C35}"/>
              </a:ext>
            </a:extLst>
          </p:cNvPr>
          <p:cNvSpPr>
            <a:spLocks noGrp="1"/>
          </p:cNvSpPr>
          <p:nvPr>
            <p:ph idx="1"/>
          </p:nvPr>
        </p:nvSpPr>
        <p:spPr>
          <a:xfrm>
            <a:off x="8184630" y="2031167"/>
            <a:ext cx="3446679" cy="3967235"/>
          </a:xfrm>
        </p:spPr>
        <p:txBody>
          <a:bodyPr>
            <a:noAutofit/>
          </a:bodyPr>
          <a:lstStyle/>
          <a:p>
            <a:pPr>
              <a:lnSpc>
                <a:spcPct val="110000"/>
              </a:lnSpc>
            </a:pPr>
            <a:r>
              <a:rPr lang="en-US" sz="1200" dirty="0"/>
              <a:t>Linear Regression model displays a high Beta of 1.5498, indicating strong sensitivity to market movements relative to AMZN.</a:t>
            </a:r>
          </a:p>
          <a:p>
            <a:pPr>
              <a:lnSpc>
                <a:spcPct val="110000"/>
              </a:lnSpc>
            </a:pPr>
            <a:r>
              <a:rPr lang="en-US" sz="1200" dirty="0"/>
              <a:t>The Huber model has a relatively higher R squared value (0.2095) compared to other models </a:t>
            </a:r>
          </a:p>
          <a:p>
            <a:pPr>
              <a:lnSpc>
                <a:spcPct val="110000"/>
              </a:lnSpc>
            </a:pPr>
            <a:r>
              <a:rPr lang="en-US" sz="1200" dirty="0"/>
              <a:t>The Huber model has a lower mean absolute error (Mean MAE: 0.0727) and standard deviation of MAE (Std MAE: 0.0160), indicating that the Huber model's predictions are, on average, closer to the actual values, and the prediction errors are more consistent.</a:t>
            </a:r>
          </a:p>
          <a:p>
            <a:pPr>
              <a:lnSpc>
                <a:spcPct val="110000"/>
              </a:lnSpc>
            </a:pPr>
            <a:r>
              <a:rPr lang="en-US" sz="1200" dirty="0"/>
              <a:t>Since the Theil Sen model is known for its robustness and resistance to outliers, the Huber model could balance robustness and predictive performance.</a:t>
            </a:r>
          </a:p>
        </p:txBody>
      </p:sp>
      <p:cxnSp>
        <p:nvCxnSpPr>
          <p:cNvPr id="17" name="Straight Connector 16">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descr="A diagram of a heatmap&#10;&#10;Description automatically generated">
            <a:extLst>
              <a:ext uri="{FF2B5EF4-FFF2-40B4-BE49-F238E27FC236}">
                <a16:creationId xmlns:a16="http://schemas.microsoft.com/office/drawing/2014/main" id="{1EB40BCD-C336-AA18-2740-A29CDA984894}"/>
              </a:ext>
            </a:extLst>
          </p:cNvPr>
          <p:cNvPicPr>
            <a:picLocks noChangeAspect="1"/>
          </p:cNvPicPr>
          <p:nvPr/>
        </p:nvPicPr>
        <p:blipFill>
          <a:blip r:embed="rId3">
            <a:alphaModFix/>
          </a:blip>
          <a:stretch>
            <a:fillRect/>
          </a:stretch>
        </p:blipFill>
        <p:spPr>
          <a:xfrm>
            <a:off x="412230" y="1811957"/>
            <a:ext cx="7250048" cy="4253556"/>
          </a:xfrm>
          <a:prstGeom prst="rect">
            <a:avLst/>
          </a:prstGeom>
          <a:solidFill>
            <a:srgbClr val="F1F4F2">
              <a:alpha val="0"/>
            </a:srgbClr>
          </a:solidFill>
          <a:ln>
            <a:noFill/>
          </a:ln>
        </p:spPr>
      </p:pic>
    </p:spTree>
    <p:extLst>
      <p:ext uri="{BB962C8B-B14F-4D97-AF65-F5344CB8AC3E}">
        <p14:creationId xmlns:p14="http://schemas.microsoft.com/office/powerpoint/2010/main" val="16473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9416E4-6040-8E53-7B14-9047E062E895}"/>
              </a:ext>
            </a:extLst>
          </p:cNvPr>
          <p:cNvSpPr>
            <a:spLocks noGrp="1"/>
          </p:cNvSpPr>
          <p:nvPr>
            <p:ph type="title"/>
          </p:nvPr>
        </p:nvSpPr>
        <p:spPr>
          <a:xfrm>
            <a:off x="521208" y="685491"/>
            <a:ext cx="11110427" cy="847984"/>
          </a:xfrm>
        </p:spPr>
        <p:txBody>
          <a:bodyPr vert="horz" lIns="91440" tIns="45720" rIns="91440" bIns="45720" rtlCol="0" anchor="ctr">
            <a:normAutofit/>
          </a:bodyPr>
          <a:lstStyle/>
          <a:p>
            <a:r>
              <a:rPr lang="en-US" dirty="0"/>
              <a:t>Forecast Return</a:t>
            </a:r>
          </a:p>
        </p:txBody>
      </p:sp>
      <p:cxnSp>
        <p:nvCxnSpPr>
          <p:cNvPr id="12" name="Straight Connector 11">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9643DC6-F5B5-7E16-474C-E329B120E587}"/>
              </a:ext>
            </a:extLst>
          </p:cNvPr>
          <p:cNvSpPr txBox="1"/>
          <p:nvPr/>
        </p:nvSpPr>
        <p:spPr>
          <a:xfrm>
            <a:off x="8184630" y="2031167"/>
            <a:ext cx="3446679" cy="3967235"/>
          </a:xfrm>
          <a:prstGeom prst="rect">
            <a:avLst/>
          </a:prstGeom>
        </p:spPr>
        <p:txBody>
          <a:bodyPr vert="horz" lIns="91440" tIns="45720" rIns="91440" bIns="45720" rtlCol="0">
            <a:normAutofit/>
          </a:bodyPr>
          <a:lstStyle/>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The forecasted returns from the Huber model is less than that of Linear Regression</a:t>
            </a:r>
          </a:p>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Huber Regressor is less sensitive to outliers and sometimes captures the underlying data distribution and relationships more effectively.</a:t>
            </a:r>
          </a:p>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The two models have different levels of flexibility. Linear Regression tries to find the best-fitting linear relationship. At the same time, Huber might capture more complex relationships if present in the data.</a:t>
            </a:r>
          </a:p>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Investors seeking a more risk-averse approach might find the Huber model's conservative forecasts appealing, which could lead to adopting a safer investment strategy based on the model's projections.</a:t>
            </a:r>
          </a:p>
        </p:txBody>
      </p:sp>
      <p:cxnSp>
        <p:nvCxnSpPr>
          <p:cNvPr id="18" name="Straight Connector 17">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EA23CF8F-C901-DC98-2D38-A0CDFD650BED}"/>
              </a:ext>
            </a:extLst>
          </p:cNvPr>
          <p:cNvGraphicFramePr>
            <a:graphicFrameLocks noGrp="1"/>
          </p:cNvGraphicFramePr>
          <p:nvPr>
            <p:ph idx="1"/>
            <p:extLst>
              <p:ext uri="{D42A27DB-BD31-4B8C-83A1-F6EECF244321}">
                <p14:modId xmlns:p14="http://schemas.microsoft.com/office/powerpoint/2010/main" val="3767287804"/>
              </p:ext>
            </p:extLst>
          </p:nvPr>
        </p:nvGraphicFramePr>
        <p:xfrm>
          <a:off x="580732" y="1919335"/>
          <a:ext cx="6838971" cy="40790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0999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11">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78F4A1-93A5-6A4C-A192-4C0BD5FED04E}"/>
              </a:ext>
            </a:extLst>
          </p:cNvPr>
          <p:cNvSpPr>
            <a:spLocks noGrp="1"/>
          </p:cNvSpPr>
          <p:nvPr>
            <p:ph type="title"/>
          </p:nvPr>
        </p:nvSpPr>
        <p:spPr>
          <a:xfrm>
            <a:off x="521208" y="685491"/>
            <a:ext cx="11110427" cy="847984"/>
          </a:xfrm>
        </p:spPr>
        <p:txBody>
          <a:bodyPr vert="horz" lIns="91440" tIns="45720" rIns="91440" bIns="45720" rtlCol="0" anchor="ctr">
            <a:normAutofit/>
          </a:bodyPr>
          <a:lstStyle/>
          <a:p>
            <a:r>
              <a:rPr lang="en-US"/>
              <a:t>Strategy Performance</a:t>
            </a:r>
            <a:endParaRPr lang="en-US" dirty="0"/>
          </a:p>
        </p:txBody>
      </p:sp>
      <p:cxnSp>
        <p:nvCxnSpPr>
          <p:cNvPr id="23" name="Straight Connector 13">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15">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17">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FA5E1CF-DB20-D66F-C5B2-692400EBE880}"/>
              </a:ext>
            </a:extLst>
          </p:cNvPr>
          <p:cNvSpPr txBox="1"/>
          <p:nvPr/>
        </p:nvSpPr>
        <p:spPr>
          <a:xfrm>
            <a:off x="8184630" y="1925660"/>
            <a:ext cx="3447000" cy="4246847"/>
          </a:xfrm>
          <a:prstGeom prst="rect">
            <a:avLst/>
          </a:prstGeom>
        </p:spPr>
        <p:txBody>
          <a:bodyPr vert="horz" lIns="91440" tIns="45720" rIns="91440" bIns="45720" rtlCol="0">
            <a:noAutofit/>
          </a:bodyPr>
          <a:lstStyle/>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AMZN has a relatively low annualized volatility of 0.34, suggesting that despite not generating a return, the investment experiences lower price fluctuations than SPY and strategy.</a:t>
            </a:r>
          </a:p>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The Sharpe ratio for AMZN is 0.01, indicating that the risk-adjusted return for this investment is low due to the absence of positive returns.</a:t>
            </a:r>
          </a:p>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The strategy demonstrates consistent performance with the same annualized return and volatility as the broader market (SPY), indicating that the strategy's returns and risk characteristics align with the market.</a:t>
            </a:r>
          </a:p>
          <a:p>
            <a:pPr marL="228600" indent="-171450">
              <a:lnSpc>
                <a:spcPct val="110000"/>
              </a:lnSpc>
              <a:spcAft>
                <a:spcPts val="600"/>
              </a:spcAft>
              <a:buSzPct val="80000"/>
              <a:buFont typeface="Arial" panose="020B0604020202020204" pitchFamily="34" charset="0"/>
              <a:buChar char="•"/>
            </a:pPr>
            <a:r>
              <a:rPr lang="en-US" sz="1200" b="0" i="0" u="none" strike="noStrike" dirty="0">
                <a:effectLst/>
              </a:rPr>
              <a:t>The annualized volatility for strategy and SPY is the same at 13.49, indicating that the strategy's risk level is consistent with that of the broader market represented by SPY.</a:t>
            </a:r>
          </a:p>
        </p:txBody>
      </p:sp>
      <p:cxnSp>
        <p:nvCxnSpPr>
          <p:cNvPr id="26" name="Straight Connector 19">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Content Placeholder 5">
            <a:extLst>
              <a:ext uri="{FF2B5EF4-FFF2-40B4-BE49-F238E27FC236}">
                <a16:creationId xmlns:a16="http://schemas.microsoft.com/office/drawing/2014/main" id="{F45BECB1-7F23-D39C-1DA4-DC0D19618B87}"/>
              </a:ext>
            </a:extLst>
          </p:cNvPr>
          <p:cNvGraphicFramePr>
            <a:graphicFrameLocks noGrp="1"/>
          </p:cNvGraphicFramePr>
          <p:nvPr>
            <p:ph idx="1"/>
            <p:extLst>
              <p:ext uri="{D42A27DB-BD31-4B8C-83A1-F6EECF244321}">
                <p14:modId xmlns:p14="http://schemas.microsoft.com/office/powerpoint/2010/main" val="2666654779"/>
              </p:ext>
            </p:extLst>
          </p:nvPr>
        </p:nvGraphicFramePr>
        <p:xfrm>
          <a:off x="580732" y="2731130"/>
          <a:ext cx="6838973" cy="2455474"/>
        </p:xfrm>
        <a:graphic>
          <a:graphicData uri="http://schemas.openxmlformats.org/drawingml/2006/table">
            <a:tbl>
              <a:tblPr firstRow="1" bandRow="1">
                <a:tableStyleId>{5C22544A-7EE6-4342-B048-85BDC9FD1C3A}</a:tableStyleId>
              </a:tblPr>
              <a:tblGrid>
                <a:gridCol w="1540348">
                  <a:extLst>
                    <a:ext uri="{9D8B030D-6E8A-4147-A177-3AD203B41FA5}">
                      <a16:colId xmlns:a16="http://schemas.microsoft.com/office/drawing/2014/main" val="3316683095"/>
                    </a:ext>
                  </a:extLst>
                </a:gridCol>
                <a:gridCol w="1966054">
                  <a:extLst>
                    <a:ext uri="{9D8B030D-6E8A-4147-A177-3AD203B41FA5}">
                      <a16:colId xmlns:a16="http://schemas.microsoft.com/office/drawing/2014/main" val="1958706727"/>
                    </a:ext>
                  </a:extLst>
                </a:gridCol>
                <a:gridCol w="1966054">
                  <a:extLst>
                    <a:ext uri="{9D8B030D-6E8A-4147-A177-3AD203B41FA5}">
                      <a16:colId xmlns:a16="http://schemas.microsoft.com/office/drawing/2014/main" val="2251722771"/>
                    </a:ext>
                  </a:extLst>
                </a:gridCol>
                <a:gridCol w="1366517">
                  <a:extLst>
                    <a:ext uri="{9D8B030D-6E8A-4147-A177-3AD203B41FA5}">
                      <a16:colId xmlns:a16="http://schemas.microsoft.com/office/drawing/2014/main" val="2206558766"/>
                    </a:ext>
                  </a:extLst>
                </a:gridCol>
              </a:tblGrid>
              <a:tr h="920377">
                <a:tc>
                  <a:txBody>
                    <a:bodyPr/>
                    <a:lstStyle/>
                    <a:p>
                      <a:pPr marL="0" algn="ctr" defTabSz="914400" rtl="0" eaLnBrk="1" fontAlgn="b" latinLnBrk="0" hangingPunct="1"/>
                      <a:endParaRPr lang="en-US" sz="1800" b="1" u="none" strike="noStrike" kern="1200">
                        <a:solidFill>
                          <a:schemeClr val="lt1"/>
                        </a:solidFill>
                        <a:effectLst/>
                        <a:latin typeface="+mn-lt"/>
                        <a:ea typeface="+mn-ea"/>
                        <a:cs typeface="+mn-cs"/>
                      </a:endParaRPr>
                    </a:p>
                  </a:txBody>
                  <a:tcPr marL="21285" marR="21285" marT="21285" marB="0" anchor="b"/>
                </a:tc>
                <a:tc>
                  <a:txBody>
                    <a:bodyPr/>
                    <a:lstStyle/>
                    <a:p>
                      <a:pPr marL="0" algn="ctr" defTabSz="914400" rtl="0" eaLnBrk="1" fontAlgn="b" latinLnBrk="0" hangingPunct="1"/>
                      <a:r>
                        <a:rPr lang="en-US" sz="1800" b="1" u="none" strike="noStrike" kern="1200" dirty="0">
                          <a:solidFill>
                            <a:schemeClr val="lt1"/>
                          </a:solidFill>
                          <a:effectLst/>
                          <a:latin typeface="+mn-lt"/>
                          <a:ea typeface="+mn-ea"/>
                          <a:cs typeface="+mn-cs"/>
                        </a:rPr>
                        <a:t>Annualized Return</a:t>
                      </a:r>
                    </a:p>
                  </a:txBody>
                  <a:tcPr marL="21285" marR="21285" marT="21285" marB="0" anchor="b"/>
                </a:tc>
                <a:tc>
                  <a:txBody>
                    <a:bodyPr/>
                    <a:lstStyle/>
                    <a:p>
                      <a:pPr marL="0" algn="ctr" defTabSz="914400" rtl="0" eaLnBrk="1" fontAlgn="b" latinLnBrk="0" hangingPunct="1"/>
                      <a:r>
                        <a:rPr lang="en-US" sz="1800" b="1" u="none" strike="noStrike" kern="1200" dirty="0">
                          <a:solidFill>
                            <a:schemeClr val="lt1"/>
                          </a:solidFill>
                          <a:effectLst/>
                          <a:latin typeface="+mn-lt"/>
                          <a:ea typeface="+mn-ea"/>
                          <a:cs typeface="+mn-cs"/>
                        </a:rPr>
                        <a:t>Annualized volatility</a:t>
                      </a:r>
                    </a:p>
                  </a:txBody>
                  <a:tcPr marL="21285" marR="21285" marT="21285" marB="0" anchor="b"/>
                </a:tc>
                <a:tc>
                  <a:txBody>
                    <a:bodyPr/>
                    <a:lstStyle/>
                    <a:p>
                      <a:pPr marL="0" algn="ctr" defTabSz="914400" rtl="0" eaLnBrk="1" fontAlgn="b" latinLnBrk="0" hangingPunct="1"/>
                      <a:r>
                        <a:rPr lang="en-US" sz="1800" b="1" u="none" strike="noStrike" kern="1200" dirty="0">
                          <a:solidFill>
                            <a:schemeClr val="lt1"/>
                          </a:solidFill>
                          <a:effectLst/>
                          <a:latin typeface="+mn-lt"/>
                          <a:ea typeface="+mn-ea"/>
                          <a:cs typeface="+mn-cs"/>
                        </a:rPr>
                        <a:t>Sharpe</a:t>
                      </a:r>
                    </a:p>
                    <a:p>
                      <a:pPr marL="0" algn="ctr" defTabSz="914400" rtl="0" eaLnBrk="1" fontAlgn="b" latinLnBrk="0" hangingPunct="1"/>
                      <a:r>
                        <a:rPr lang="en-US" sz="1800" b="1" u="none" strike="noStrike" kern="1200" dirty="0">
                          <a:solidFill>
                            <a:schemeClr val="lt1"/>
                          </a:solidFill>
                          <a:effectLst/>
                          <a:latin typeface="+mn-lt"/>
                          <a:ea typeface="+mn-ea"/>
                          <a:cs typeface="+mn-cs"/>
                        </a:rPr>
                        <a:t>Ratio</a:t>
                      </a:r>
                    </a:p>
                  </a:txBody>
                  <a:tcPr marL="21285" marR="21285" marT="21285" marB="0" anchor="b"/>
                </a:tc>
                <a:extLst>
                  <a:ext uri="{0D108BD9-81ED-4DB2-BD59-A6C34878D82A}">
                    <a16:rowId xmlns:a16="http://schemas.microsoft.com/office/drawing/2014/main" val="186110600"/>
                  </a:ext>
                </a:extLst>
              </a:tr>
              <a:tr h="511699">
                <a:tc>
                  <a:txBody>
                    <a:bodyPr/>
                    <a:lstStyle/>
                    <a:p>
                      <a:pPr algn="l" fontAlgn="b"/>
                      <a:r>
                        <a:rPr lang="en-US" sz="2400" u="none" strike="noStrike">
                          <a:effectLst/>
                        </a:rPr>
                        <a:t>Strategy</a:t>
                      </a:r>
                      <a:endParaRPr lang="en-US" sz="2400" b="1" i="0" u="none" strike="noStrike">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dirty="0">
                          <a:effectLst/>
                        </a:rPr>
                        <a:t>0.95</a:t>
                      </a:r>
                      <a:endParaRPr lang="en-US" sz="2000" b="0" i="0" u="none" strike="noStrike" dirty="0">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dirty="0">
                          <a:effectLst/>
                        </a:rPr>
                        <a:t>13.49</a:t>
                      </a:r>
                      <a:endParaRPr lang="en-US" sz="2000" b="0" i="0" u="none" strike="noStrike" dirty="0">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a:effectLst/>
                        </a:rPr>
                        <a:t>0.07</a:t>
                      </a:r>
                      <a:endParaRPr lang="en-US" sz="2000" b="0" i="0" u="none" strike="noStrike">
                        <a:solidFill>
                          <a:srgbClr val="000000"/>
                        </a:solidFill>
                        <a:effectLst/>
                        <a:latin typeface="Calibri" panose="020F0502020204030204" pitchFamily="34" charset="0"/>
                      </a:endParaRPr>
                    </a:p>
                  </a:txBody>
                  <a:tcPr marL="21285" marR="21285" marT="21285" marB="0" anchor="b"/>
                </a:tc>
                <a:extLst>
                  <a:ext uri="{0D108BD9-81ED-4DB2-BD59-A6C34878D82A}">
                    <a16:rowId xmlns:a16="http://schemas.microsoft.com/office/drawing/2014/main" val="2709967518"/>
                  </a:ext>
                </a:extLst>
              </a:tr>
              <a:tr h="511699">
                <a:tc>
                  <a:txBody>
                    <a:bodyPr/>
                    <a:lstStyle/>
                    <a:p>
                      <a:pPr algn="l" fontAlgn="b"/>
                      <a:r>
                        <a:rPr lang="en-US" sz="2400" u="none" strike="noStrike">
                          <a:effectLst/>
                        </a:rPr>
                        <a:t>AMZN</a:t>
                      </a:r>
                      <a:endParaRPr lang="en-US" sz="2400" b="1" i="0" u="none" strike="noStrike">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dirty="0">
                          <a:effectLst/>
                        </a:rPr>
                        <a:t>0.34</a:t>
                      </a:r>
                      <a:endParaRPr lang="en-US" sz="2000" b="0" i="0" u="none" strike="noStrike" dirty="0">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dirty="0">
                          <a:effectLst/>
                        </a:rPr>
                        <a:t>0.01</a:t>
                      </a:r>
                      <a:endParaRPr lang="en-US" sz="2000" b="0" i="0" u="none" strike="noStrike" dirty="0">
                        <a:solidFill>
                          <a:srgbClr val="000000"/>
                        </a:solidFill>
                        <a:effectLst/>
                        <a:latin typeface="Calibri" panose="020F0502020204030204" pitchFamily="34" charset="0"/>
                      </a:endParaRPr>
                    </a:p>
                  </a:txBody>
                  <a:tcPr marL="21285" marR="21285" marT="21285" marB="0" anchor="b"/>
                </a:tc>
                <a:extLst>
                  <a:ext uri="{0D108BD9-81ED-4DB2-BD59-A6C34878D82A}">
                    <a16:rowId xmlns:a16="http://schemas.microsoft.com/office/drawing/2014/main" val="2809008922"/>
                  </a:ext>
                </a:extLst>
              </a:tr>
              <a:tr h="511699">
                <a:tc>
                  <a:txBody>
                    <a:bodyPr/>
                    <a:lstStyle/>
                    <a:p>
                      <a:pPr algn="l" fontAlgn="b"/>
                      <a:r>
                        <a:rPr lang="en-US" sz="2400" u="none" strike="noStrike" dirty="0">
                          <a:effectLst/>
                        </a:rPr>
                        <a:t>SPY</a:t>
                      </a:r>
                      <a:endParaRPr lang="en-US" sz="2400" b="1" i="0" u="none" strike="noStrike" dirty="0">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a:effectLst/>
                        </a:rPr>
                        <a:t>0.95</a:t>
                      </a:r>
                      <a:endParaRPr lang="en-US" sz="2000" b="0" i="0" u="none" strike="noStrike">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a:effectLst/>
                        </a:rPr>
                        <a:t>13.49</a:t>
                      </a:r>
                      <a:endParaRPr lang="en-US" sz="2000" b="0" i="0" u="none" strike="noStrike">
                        <a:solidFill>
                          <a:srgbClr val="000000"/>
                        </a:solidFill>
                        <a:effectLst/>
                        <a:latin typeface="Calibri" panose="020F0502020204030204" pitchFamily="34" charset="0"/>
                      </a:endParaRPr>
                    </a:p>
                  </a:txBody>
                  <a:tcPr marL="21285" marR="21285" marT="21285" marB="0" anchor="b"/>
                </a:tc>
                <a:tc>
                  <a:txBody>
                    <a:bodyPr/>
                    <a:lstStyle/>
                    <a:p>
                      <a:pPr algn="r" fontAlgn="b"/>
                      <a:r>
                        <a:rPr lang="en-US" sz="2000" u="none" strike="noStrike" dirty="0">
                          <a:effectLst/>
                        </a:rPr>
                        <a:t>0.07</a:t>
                      </a:r>
                      <a:endParaRPr lang="en-US" sz="2000" b="0" i="0" u="none" strike="noStrike" dirty="0">
                        <a:solidFill>
                          <a:srgbClr val="000000"/>
                        </a:solidFill>
                        <a:effectLst/>
                        <a:latin typeface="Calibri" panose="020F0502020204030204" pitchFamily="34" charset="0"/>
                      </a:endParaRPr>
                    </a:p>
                  </a:txBody>
                  <a:tcPr marL="21285" marR="21285" marT="21285" marB="0" anchor="b"/>
                </a:tc>
                <a:extLst>
                  <a:ext uri="{0D108BD9-81ED-4DB2-BD59-A6C34878D82A}">
                    <a16:rowId xmlns:a16="http://schemas.microsoft.com/office/drawing/2014/main" val="2510476855"/>
                  </a:ext>
                </a:extLst>
              </a:tr>
            </a:tbl>
          </a:graphicData>
        </a:graphic>
      </p:graphicFrame>
    </p:spTree>
    <p:extLst>
      <p:ext uri="{BB962C8B-B14F-4D97-AF65-F5344CB8AC3E}">
        <p14:creationId xmlns:p14="http://schemas.microsoft.com/office/powerpoint/2010/main" val="1514851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E7A1-F44F-4134-5DD8-A1287370702A}"/>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42E5B06-D879-BB8B-AD2F-8AF1F28B1F7B}"/>
              </a:ext>
            </a:extLst>
          </p:cNvPr>
          <p:cNvSpPr>
            <a:spLocks noGrp="1"/>
          </p:cNvSpPr>
          <p:nvPr>
            <p:ph idx="1"/>
          </p:nvPr>
        </p:nvSpPr>
        <p:spPr/>
        <p:txBody>
          <a:bodyPr>
            <a:normAutofit/>
          </a:bodyPr>
          <a:lstStyle/>
          <a:p>
            <a:r>
              <a:rPr lang="en-US" sz="1400" b="0" i="0" u="none" strike="noStrike" dirty="0">
                <a:solidFill>
                  <a:srgbClr val="374151"/>
                </a:solidFill>
                <a:effectLst/>
              </a:rPr>
              <a:t>AAPL, MSFT, and other large-cap tech stocks significantly influence SPY's composition and performance due to their substantial weightage. The performance of these stocks can sway the overall ETF's performance.</a:t>
            </a:r>
          </a:p>
          <a:p>
            <a:r>
              <a:rPr lang="en-US" sz="1400" b="0" i="0" u="none" strike="noStrike" dirty="0">
                <a:solidFill>
                  <a:srgbClr val="374151"/>
                </a:solidFill>
                <a:effectLst/>
              </a:rPr>
              <a:t>AMZN's historical cumulative returns have been volatile, reflecting its growth trajectory and market sentiment.</a:t>
            </a:r>
          </a:p>
          <a:p>
            <a:r>
              <a:rPr lang="en-US" sz="1400" b="0" i="0" u="none" strike="noStrike" dirty="0">
                <a:solidFill>
                  <a:srgbClr val="374151"/>
                </a:solidFill>
                <a:effectLst/>
              </a:rPr>
              <a:t>SPY's returns also fluctuate with market conditions, showcasing periods of both growth and decline.</a:t>
            </a:r>
          </a:p>
          <a:p>
            <a:r>
              <a:rPr lang="en-US" sz="1400" b="0" i="0" u="none" strike="noStrike" dirty="0">
                <a:solidFill>
                  <a:srgbClr val="374151"/>
                </a:solidFill>
                <a:effectLst/>
              </a:rPr>
              <a:t>Huber's better performance in terms of MAE and prediction accuracy suggests its potential utility in predicting future SPY returns.</a:t>
            </a:r>
          </a:p>
          <a:p>
            <a:r>
              <a:rPr lang="en-US" sz="1400" b="0" i="0" u="none" strike="noStrike" dirty="0">
                <a:solidFill>
                  <a:srgbClr val="374151"/>
                </a:solidFill>
                <a:effectLst/>
              </a:rPr>
              <a:t>Incorporating Huber's forecasted returns into long-term portfolio simulations can provide insights into the potential cumulative performance over time. This information aids in evaluating the sustainability of investment strategies.</a:t>
            </a:r>
          </a:p>
          <a:p>
            <a:r>
              <a:rPr lang="en-US" sz="1400" b="0" i="0" u="none" strike="noStrike" dirty="0">
                <a:solidFill>
                  <a:srgbClr val="374151"/>
                </a:solidFill>
                <a:effectLst/>
              </a:rPr>
              <a:t>AMZN's low volatility implies stability, but its absence of positive returns affects its risk-adjusted performance (Sharpe ratio)</a:t>
            </a:r>
            <a:endParaRPr lang="en-US" sz="1400" dirty="0"/>
          </a:p>
        </p:txBody>
      </p:sp>
    </p:spTree>
    <p:extLst>
      <p:ext uri="{BB962C8B-B14F-4D97-AF65-F5344CB8AC3E}">
        <p14:creationId xmlns:p14="http://schemas.microsoft.com/office/powerpoint/2010/main" val="2725388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453F-A690-17D8-EF1E-B09B1985B26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353EEAA-6D63-12A4-D651-3596B03A7889}"/>
              </a:ext>
            </a:extLst>
          </p:cNvPr>
          <p:cNvSpPr>
            <a:spLocks noGrp="1"/>
          </p:cNvSpPr>
          <p:nvPr>
            <p:ph idx="1"/>
          </p:nvPr>
        </p:nvSpPr>
        <p:spPr/>
        <p:txBody>
          <a:bodyPr>
            <a:normAutofit/>
          </a:bodyPr>
          <a:lstStyle/>
          <a:p>
            <a:r>
              <a:rPr lang="en-US" sz="1400" b="0" i="0" u="none" strike="noStrike" dirty="0">
                <a:solidFill>
                  <a:srgbClr val="374151"/>
                </a:solidFill>
                <a:effectLst/>
              </a:rPr>
              <a:t>Our strategy and the broader market represented by SPY exhibited similar risk-adjusted performance, suggesting a balanced alignment.</a:t>
            </a:r>
          </a:p>
          <a:p>
            <a:r>
              <a:rPr lang="en-US" sz="1400" b="0" i="0" u="none" strike="noStrike" dirty="0">
                <a:solidFill>
                  <a:srgbClr val="374151"/>
                </a:solidFill>
                <a:effectLst/>
              </a:rPr>
              <a:t>Among our regression models, Huber's superior predictive accuracy was demonstrated by lower MAE and Std MAE, suggesting its potential to generate more robust forecasts for future returns.</a:t>
            </a:r>
          </a:p>
          <a:p>
            <a:r>
              <a:rPr lang="en-US" sz="1400" b="0" i="0" u="none" strike="noStrike" dirty="0">
                <a:solidFill>
                  <a:srgbClr val="374151"/>
                </a:solidFill>
                <a:effectLst/>
              </a:rPr>
              <a:t>The historical cumulative returns of both AMZN and SPY show periods of positive and negative growth. While the specific trends differ, there are instances where both assets experience growth simultaneously, indicating some level of correlation.</a:t>
            </a:r>
          </a:p>
          <a:p>
            <a:r>
              <a:rPr lang="en-US" sz="1400" b="0" i="0" u="none" strike="noStrike" dirty="0">
                <a:solidFill>
                  <a:srgbClr val="374151"/>
                </a:solidFill>
                <a:effectLst/>
              </a:rPr>
              <a:t>While there is a correlation, there are also periods where AMZN's cumulative return outperforms SPY and vice versa, indicating that while there may be shared market influences, the individual stock dynamics of Amazon can result in divergent returns compared to the overall market represented by SPY.</a:t>
            </a:r>
          </a:p>
          <a:p>
            <a:r>
              <a:rPr lang="en-US" sz="1400" b="0" i="0" u="none" strike="noStrike" dirty="0">
                <a:solidFill>
                  <a:srgbClr val="374151"/>
                </a:solidFill>
                <a:effectLst/>
              </a:rPr>
              <a:t>While Amazon's lower volatility can offer some stability, its cumulative return is consistently lower than SPY's, implying a potential trade-off between lower risk (volatility) and potentially lower returns when investing in Amazon compared to the broader market.</a:t>
            </a:r>
            <a:endParaRPr lang="en-US" sz="1400" dirty="0"/>
          </a:p>
        </p:txBody>
      </p:sp>
    </p:spTree>
    <p:extLst>
      <p:ext uri="{BB962C8B-B14F-4D97-AF65-F5344CB8AC3E}">
        <p14:creationId xmlns:p14="http://schemas.microsoft.com/office/powerpoint/2010/main" val="1936154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FA618-89CD-C544-D3CE-75A3CF22AD13}"/>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D0D21DC4-B976-6105-42CC-6F2FEFD3D603}"/>
              </a:ext>
            </a:extLst>
          </p:cNvPr>
          <p:cNvSpPr>
            <a:spLocks noGrp="1"/>
          </p:cNvSpPr>
          <p:nvPr>
            <p:ph idx="1"/>
          </p:nvPr>
        </p:nvSpPr>
        <p:spPr/>
        <p:txBody>
          <a:bodyPr/>
          <a:lstStyle/>
          <a:p>
            <a:r>
              <a:rPr lang="en-US" dirty="0"/>
              <a:t>Code: Attached to submission</a:t>
            </a:r>
          </a:p>
        </p:txBody>
      </p:sp>
    </p:spTree>
    <p:extLst>
      <p:ext uri="{BB962C8B-B14F-4D97-AF65-F5344CB8AC3E}">
        <p14:creationId xmlns:p14="http://schemas.microsoft.com/office/powerpoint/2010/main" val="971531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D851-64B1-D016-F7AC-9A06FF327AF9}"/>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F760D570-7E45-FCC4-B8F1-9B0FCB28689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06331571"/>
      </p:ext>
    </p:extLst>
  </p:cSld>
  <p:clrMapOvr>
    <a:masterClrMapping/>
  </p:clrMapOvr>
</p:sld>
</file>

<file path=ppt/theme/theme1.xml><?xml version="1.0" encoding="utf-8"?>
<a:theme xmlns:a="http://schemas.openxmlformats.org/drawingml/2006/main" name="AlignmentVTI">
  <a:themeElements>
    <a:clrScheme name="AnalogousFromDarkSeedLeftStep">
      <a:dk1>
        <a:srgbClr val="000000"/>
      </a:dk1>
      <a:lt1>
        <a:srgbClr val="FFFFFF"/>
      </a:lt1>
      <a:dk2>
        <a:srgbClr val="301B2C"/>
      </a:dk2>
      <a:lt2>
        <a:srgbClr val="F0F3F2"/>
      </a:lt2>
      <a:accent1>
        <a:srgbClr val="C94778"/>
      </a:accent1>
      <a:accent2>
        <a:srgbClr val="B7359D"/>
      </a:accent2>
      <a:accent3>
        <a:srgbClr val="AD47C9"/>
      </a:accent3>
      <a:accent4>
        <a:srgbClr val="6535B7"/>
      </a:accent4>
      <a:accent5>
        <a:srgbClr val="474DC9"/>
      </a:accent5>
      <a:accent6>
        <a:srgbClr val="3571B7"/>
      </a:accent6>
      <a:hlink>
        <a:srgbClr val="6A5EC9"/>
      </a:hlink>
      <a:folHlink>
        <a:srgbClr val="7F7F7F"/>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2217</TotalTime>
  <Words>768</Words>
  <Application>Microsoft Macintosh PowerPoint</Application>
  <PresentationFormat>Widescreen</PresentationFormat>
  <Paragraphs>89</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Batang</vt:lpstr>
      <vt:lpstr>Arial</vt:lpstr>
      <vt:lpstr>Avenir Next LT Pro Light</vt:lpstr>
      <vt:lpstr>Calibri</vt:lpstr>
      <vt:lpstr>AlignmentVTI</vt:lpstr>
      <vt:lpstr>Regression Analysis</vt:lpstr>
      <vt:lpstr>Content</vt:lpstr>
      <vt:lpstr>SPY Holdings</vt:lpstr>
      <vt:lpstr>Historical Returns</vt:lpstr>
      <vt:lpstr>Model Evaluation</vt:lpstr>
      <vt:lpstr>Forecast Return</vt:lpstr>
      <vt:lpstr>Strategy Performance</vt:lpstr>
      <vt:lpstr>Summary</vt:lpstr>
      <vt:lpstr>Conclusion</vt:lpstr>
      <vt:lpstr>Appendix</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Analysis</dc:title>
  <dc:creator>PAULAMI.PATIL@baruchmail.cuny.edu</dc:creator>
  <cp:lastModifiedBy>PAULAMI.PATIL@baruchmail.cuny.edu</cp:lastModifiedBy>
  <cp:revision>7</cp:revision>
  <dcterms:created xsi:type="dcterms:W3CDTF">2023-08-08T13:57:49Z</dcterms:created>
  <dcterms:modified xsi:type="dcterms:W3CDTF">2023-08-10T15:25:26Z</dcterms:modified>
</cp:coreProperties>
</file>